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Montserrat"/>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A0CD12-AC30-499B-980D-6BF95889813C}">
  <a:tblStyle styleId="{03A0CD12-AC30-499B-980D-6BF95889813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La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a492cbea2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a492cbea2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a492cbea2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a492cbea2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a492cbea2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a492cbea2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a492cbea2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a492cbea2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a492cbea2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a492cbea2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a492cbea2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a492cbea2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a492cbea2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a492cbea2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a492cbea2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a492cbea2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a5bb910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a5bb910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a5bb910c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a5bb910c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a5bb910c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a5bb910c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a5bb910c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a5bb910c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a5bb910c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a5bb910c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a5bb910c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a5bb910c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a492cbea2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a492cbea2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17.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1.png"/><Relationship Id="rId5"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743775" y="1360925"/>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Times New Roman"/>
                <a:ea typeface="Times New Roman"/>
                <a:cs typeface="Times New Roman"/>
                <a:sym typeface="Times New Roman"/>
              </a:rPr>
              <a:t>AtliQ Sales Insights</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rPr lang="en-GB">
                <a:solidFill>
                  <a:schemeClr val="lt2"/>
                </a:solidFill>
                <a:latin typeface="Times New Roman"/>
                <a:ea typeface="Times New Roman"/>
                <a:cs typeface="Times New Roman"/>
                <a:sym typeface="Times New Roman"/>
              </a:rPr>
              <a:t>Ad-Hoc Insights</a:t>
            </a:r>
            <a:endParaRPr>
              <a:solidFill>
                <a:schemeClr val="lt2"/>
              </a:solidFill>
              <a:latin typeface="Times New Roman"/>
              <a:ea typeface="Times New Roman"/>
              <a:cs typeface="Times New Roman"/>
              <a:sym typeface="Times New Roman"/>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100">
                <a:latin typeface="Times New Roman"/>
                <a:ea typeface="Times New Roman"/>
                <a:cs typeface="Times New Roman"/>
                <a:sym typeface="Times New Roman"/>
              </a:rPr>
              <a:t>Presented By : Mahi Agarwal</a:t>
            </a:r>
            <a:endParaRPr sz="2100">
              <a:latin typeface="Times New Roman"/>
              <a:ea typeface="Times New Roman"/>
              <a:cs typeface="Times New Roman"/>
              <a:sym typeface="Times New Roman"/>
            </a:endParaRPr>
          </a:p>
        </p:txBody>
      </p:sp>
      <p:pic>
        <p:nvPicPr>
          <p:cNvPr id="136" name="Google Shape;136;p13" title="Screenshot_2025-09-02_104546-removebg-preview.png"/>
          <p:cNvPicPr preferRelativeResize="0"/>
          <p:nvPr/>
        </p:nvPicPr>
        <p:blipFill>
          <a:blip r:embed="rId3">
            <a:alphaModFix/>
          </a:blip>
          <a:stretch>
            <a:fillRect/>
          </a:stretch>
        </p:blipFill>
        <p:spPr>
          <a:xfrm>
            <a:off x="750200" y="641725"/>
            <a:ext cx="1481875" cy="1493950"/>
          </a:xfrm>
          <a:prstGeom prst="rect">
            <a:avLst/>
          </a:prstGeom>
          <a:noFill/>
          <a:ln>
            <a:noFill/>
          </a:ln>
          <a:effectLst>
            <a:outerShdw blurRad="57150" rotWithShape="0" algn="bl" dir="5400000" dist="19050">
              <a:srgbClr val="000000">
                <a:alpha val="58999"/>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3865350" y="178325"/>
            <a:ext cx="1530300" cy="826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GB">
                <a:solidFill>
                  <a:srgbClr val="00FFFF"/>
                </a:solidFill>
                <a:latin typeface="Times New Roman"/>
                <a:ea typeface="Times New Roman"/>
                <a:cs typeface="Times New Roman"/>
                <a:sym typeface="Times New Roman"/>
              </a:rPr>
              <a:t>Contents</a:t>
            </a:r>
            <a:endParaRPr b="1">
              <a:solidFill>
                <a:srgbClr val="00FFFF"/>
              </a:solidFill>
              <a:latin typeface="Times New Roman"/>
              <a:ea typeface="Times New Roman"/>
              <a:cs typeface="Times New Roman"/>
              <a:sym typeface="Times New Roman"/>
            </a:endParaRPr>
          </a:p>
        </p:txBody>
      </p:sp>
      <p:sp>
        <p:nvSpPr>
          <p:cNvPr id="142" name="Google Shape;142;p14"/>
          <p:cNvSpPr/>
          <p:nvPr/>
        </p:nvSpPr>
        <p:spPr>
          <a:xfrm>
            <a:off x="187050" y="178325"/>
            <a:ext cx="1293000" cy="114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43" name="Google Shape;143;p14" title="Screenshot_2025-09-02_104546-removebg-preview.png"/>
          <p:cNvPicPr preferRelativeResize="0"/>
          <p:nvPr/>
        </p:nvPicPr>
        <p:blipFill>
          <a:blip r:embed="rId3">
            <a:alphaModFix/>
          </a:blip>
          <a:stretch>
            <a:fillRect/>
          </a:stretch>
        </p:blipFill>
        <p:spPr>
          <a:xfrm>
            <a:off x="289861" y="201100"/>
            <a:ext cx="1087375" cy="1096251"/>
          </a:xfrm>
          <a:prstGeom prst="rect">
            <a:avLst/>
          </a:prstGeom>
          <a:noFill/>
          <a:ln>
            <a:noFill/>
          </a:ln>
          <a:effectLst>
            <a:outerShdw blurRad="57150" rotWithShape="0" algn="bl" dir="5400000" dist="19050">
              <a:srgbClr val="000000">
                <a:alpha val="58999"/>
              </a:srgbClr>
            </a:outerShdw>
          </a:effectLst>
        </p:spPr>
      </p:pic>
      <p:graphicFrame>
        <p:nvGraphicFramePr>
          <p:cNvPr id="144" name="Google Shape;144;p14"/>
          <p:cNvGraphicFramePr/>
          <p:nvPr/>
        </p:nvGraphicFramePr>
        <p:xfrm>
          <a:off x="1702813" y="1779338"/>
          <a:ext cx="3000000" cy="3000000"/>
        </p:xfrm>
        <a:graphic>
          <a:graphicData uri="http://schemas.openxmlformats.org/drawingml/2006/table">
            <a:tbl>
              <a:tblPr>
                <a:noFill/>
                <a:tableStyleId>{03A0CD12-AC30-499B-980D-6BF95889813C}</a:tableStyleId>
              </a:tblPr>
              <a:tblGrid>
                <a:gridCol w="3043175"/>
                <a:gridCol w="2695200"/>
              </a:tblGrid>
              <a:tr h="311375">
                <a:tc>
                  <a:txBody>
                    <a:bodyPr/>
                    <a:lstStyle/>
                    <a:p>
                      <a:pPr indent="0" lvl="0" marL="0" rtl="0" algn="l">
                        <a:spcBef>
                          <a:spcPts val="0"/>
                        </a:spcBef>
                        <a:spcAft>
                          <a:spcPts val="0"/>
                        </a:spcAft>
                        <a:buNone/>
                      </a:pPr>
                      <a:r>
                        <a:rPr lang="en-GB">
                          <a:solidFill>
                            <a:schemeClr val="lt1"/>
                          </a:solidFill>
                        </a:rPr>
                        <a:t>About the Company</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b="1" lang="en-GB">
                          <a:solidFill>
                            <a:srgbClr val="D9D9D9"/>
                          </a:solidFill>
                        </a:rPr>
                        <a:t>3</a:t>
                      </a:r>
                      <a:endParaRPr b="1">
                        <a:solidFill>
                          <a:srgbClr val="D9D9D9"/>
                        </a:solidFill>
                      </a:endParaRPr>
                    </a:p>
                  </a:txBody>
                  <a:tcPr marT="91425" marB="91425" marR="91425" marL="91425"/>
                </a:tc>
              </a:tr>
              <a:tr h="311375">
                <a:tc>
                  <a:txBody>
                    <a:bodyPr/>
                    <a:lstStyle/>
                    <a:p>
                      <a:pPr indent="0" lvl="0" marL="0" rtl="0" algn="l">
                        <a:spcBef>
                          <a:spcPts val="0"/>
                        </a:spcBef>
                        <a:spcAft>
                          <a:spcPts val="0"/>
                        </a:spcAft>
                        <a:buNone/>
                      </a:pPr>
                      <a:r>
                        <a:rPr lang="en-GB">
                          <a:solidFill>
                            <a:schemeClr val="lt2"/>
                          </a:solidFill>
                        </a:rPr>
                        <a:t>About Objectives</a:t>
                      </a:r>
                      <a:endParaRPr>
                        <a:solidFill>
                          <a:schemeClr val="lt2"/>
                        </a:solidFill>
                      </a:endParaRPr>
                    </a:p>
                  </a:txBody>
                  <a:tcPr marT="91425" marB="91425" marR="91425" marL="91425"/>
                </a:tc>
                <a:tc>
                  <a:txBody>
                    <a:bodyPr/>
                    <a:lstStyle/>
                    <a:p>
                      <a:pPr indent="0" lvl="0" marL="0" rtl="0" algn="ctr">
                        <a:spcBef>
                          <a:spcPts val="0"/>
                        </a:spcBef>
                        <a:spcAft>
                          <a:spcPts val="0"/>
                        </a:spcAft>
                        <a:buNone/>
                      </a:pPr>
                      <a:r>
                        <a:rPr b="1" lang="en-GB">
                          <a:solidFill>
                            <a:schemeClr val="lt2"/>
                          </a:solidFill>
                        </a:rPr>
                        <a:t>4</a:t>
                      </a:r>
                      <a:endParaRPr b="1">
                        <a:solidFill>
                          <a:schemeClr val="lt2"/>
                        </a:solidFill>
                      </a:endParaRPr>
                    </a:p>
                  </a:txBody>
                  <a:tcPr marT="91425" marB="91425" marR="91425" marL="91425"/>
                </a:tc>
              </a:tr>
              <a:tr h="311375">
                <a:tc>
                  <a:txBody>
                    <a:bodyPr/>
                    <a:lstStyle/>
                    <a:p>
                      <a:pPr indent="0" lvl="0" marL="0" rtl="0" algn="l">
                        <a:spcBef>
                          <a:spcPts val="0"/>
                        </a:spcBef>
                        <a:spcAft>
                          <a:spcPts val="0"/>
                        </a:spcAft>
                        <a:buNone/>
                      </a:pPr>
                      <a:r>
                        <a:rPr lang="en-GB">
                          <a:solidFill>
                            <a:schemeClr val="lt1"/>
                          </a:solidFill>
                        </a:rPr>
                        <a:t>Company’s Market</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b="1" lang="en-GB">
                          <a:solidFill>
                            <a:srgbClr val="D9D9D9"/>
                          </a:solidFill>
                        </a:rPr>
                        <a:t>5</a:t>
                      </a:r>
                      <a:endParaRPr b="1">
                        <a:solidFill>
                          <a:srgbClr val="D9D9D9"/>
                        </a:solidFill>
                      </a:endParaRPr>
                    </a:p>
                  </a:txBody>
                  <a:tcPr marT="91425" marB="91425" marR="91425" marL="91425"/>
                </a:tc>
              </a:tr>
              <a:tr h="311375">
                <a:tc>
                  <a:txBody>
                    <a:bodyPr/>
                    <a:lstStyle/>
                    <a:p>
                      <a:pPr indent="0" lvl="0" marL="0" rtl="0" algn="l">
                        <a:spcBef>
                          <a:spcPts val="0"/>
                        </a:spcBef>
                        <a:spcAft>
                          <a:spcPts val="0"/>
                        </a:spcAft>
                        <a:buNone/>
                      </a:pPr>
                      <a:r>
                        <a:rPr lang="en-GB">
                          <a:solidFill>
                            <a:schemeClr val="lt2"/>
                          </a:solidFill>
                        </a:rPr>
                        <a:t>Ad-Hoc Analysis</a:t>
                      </a:r>
                      <a:endParaRPr>
                        <a:solidFill>
                          <a:schemeClr val="lt2"/>
                        </a:solidFill>
                      </a:endParaRPr>
                    </a:p>
                  </a:txBody>
                  <a:tcPr marT="91425" marB="91425" marR="91425" marL="91425"/>
                </a:tc>
                <a:tc>
                  <a:txBody>
                    <a:bodyPr/>
                    <a:lstStyle/>
                    <a:p>
                      <a:pPr indent="0" lvl="0" marL="0" rtl="0" algn="ctr">
                        <a:spcBef>
                          <a:spcPts val="0"/>
                        </a:spcBef>
                        <a:spcAft>
                          <a:spcPts val="0"/>
                        </a:spcAft>
                        <a:buNone/>
                      </a:pPr>
                      <a:r>
                        <a:rPr b="1" lang="en-GB">
                          <a:solidFill>
                            <a:schemeClr val="lt2"/>
                          </a:solidFill>
                        </a:rPr>
                        <a:t>6-15</a:t>
                      </a:r>
                      <a:endParaRPr b="1">
                        <a:solidFill>
                          <a:schemeClr val="lt2"/>
                        </a:solidFill>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a:t>
            </a:r>
            <a:r>
              <a:rPr b="1" lang="en-GB">
                <a:solidFill>
                  <a:srgbClr val="00FFFF"/>
                </a:solidFill>
              </a:rPr>
              <a:t>  About the Company</a:t>
            </a:r>
            <a:endParaRPr b="1">
              <a:solidFill>
                <a:srgbClr val="00FFFF"/>
              </a:solidFill>
              <a:latin typeface="Times New Roman"/>
              <a:ea typeface="Times New Roman"/>
              <a:cs typeface="Times New Roman"/>
              <a:sym typeface="Times New Roman"/>
            </a:endParaRPr>
          </a:p>
        </p:txBody>
      </p:sp>
      <p:sp>
        <p:nvSpPr>
          <p:cNvPr id="150" name="Google Shape;150;p15"/>
          <p:cNvSpPr txBox="1"/>
          <p:nvPr>
            <p:ph idx="1" type="body"/>
          </p:nvPr>
        </p:nvSpPr>
        <p:spPr>
          <a:xfrm>
            <a:off x="1297500" y="1567550"/>
            <a:ext cx="385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chemeClr val="lt2"/>
                </a:solidFill>
                <a:latin typeface="Arial"/>
                <a:ea typeface="Arial"/>
                <a:cs typeface="Arial"/>
                <a:sym typeface="Arial"/>
              </a:rPr>
              <a:t>AtliQ Hardware is a Computer Hardware and Accessory Manufacturer</a:t>
            </a:r>
            <a:endParaRPr sz="1400">
              <a:solidFill>
                <a:schemeClr val="lt2"/>
              </a:solidFill>
              <a:latin typeface="Arial"/>
              <a:ea typeface="Arial"/>
              <a:cs typeface="Arial"/>
              <a:sym typeface="Arial"/>
            </a:endParaRPr>
          </a:p>
          <a:p>
            <a:pPr indent="0" lvl="0" marL="0" rtl="0" algn="l">
              <a:spcBef>
                <a:spcPts val="1200"/>
              </a:spcBef>
              <a:spcAft>
                <a:spcPts val="0"/>
              </a:spcAft>
              <a:buNone/>
            </a:pPr>
            <a:r>
              <a:t/>
            </a:r>
            <a:endParaRPr sz="1400">
              <a:solidFill>
                <a:schemeClr val="lt2"/>
              </a:solidFill>
              <a:latin typeface="Arial"/>
              <a:ea typeface="Arial"/>
              <a:cs typeface="Arial"/>
              <a:sym typeface="Arial"/>
            </a:endParaRPr>
          </a:p>
          <a:p>
            <a:pPr indent="0" lvl="0" marL="0" rtl="0" algn="l">
              <a:spcBef>
                <a:spcPts val="1200"/>
              </a:spcBef>
              <a:spcAft>
                <a:spcPts val="0"/>
              </a:spcAft>
              <a:buNone/>
            </a:pPr>
            <a:r>
              <a:rPr lang="en-GB" sz="1400">
                <a:latin typeface="Arial"/>
                <a:ea typeface="Arial"/>
                <a:cs typeface="Arial"/>
                <a:sym typeface="Arial"/>
              </a:rPr>
              <a:t>The Company manufactures product under 3 major divisions i.e., Networking and Storage, PC, Peripherals and Accessories</a:t>
            </a:r>
            <a:endParaRPr sz="1400">
              <a:latin typeface="Arial"/>
              <a:ea typeface="Arial"/>
              <a:cs typeface="Arial"/>
              <a:sym typeface="Arial"/>
            </a:endParaRPr>
          </a:p>
          <a:p>
            <a:pPr indent="0" lvl="0" marL="0" rtl="0" algn="l">
              <a:spcBef>
                <a:spcPts val="1200"/>
              </a:spcBef>
              <a:spcAft>
                <a:spcPts val="0"/>
              </a:spcAft>
              <a:buNone/>
            </a:pPr>
            <a:r>
              <a:t/>
            </a:r>
            <a:endParaRPr sz="1400">
              <a:solidFill>
                <a:schemeClr val="lt2"/>
              </a:solidFill>
              <a:latin typeface="Arial"/>
              <a:ea typeface="Arial"/>
              <a:cs typeface="Arial"/>
              <a:sym typeface="Arial"/>
            </a:endParaRPr>
          </a:p>
          <a:p>
            <a:pPr indent="0" lvl="0" marL="0" rtl="0" algn="l">
              <a:spcBef>
                <a:spcPts val="1200"/>
              </a:spcBef>
              <a:spcAft>
                <a:spcPts val="1200"/>
              </a:spcAft>
              <a:buNone/>
            </a:pPr>
            <a:r>
              <a:rPr lang="en-GB" sz="1400">
                <a:solidFill>
                  <a:schemeClr val="lt2"/>
                </a:solidFill>
                <a:latin typeface="Arial"/>
                <a:ea typeface="Arial"/>
                <a:cs typeface="Arial"/>
                <a:sym typeface="Arial"/>
              </a:rPr>
              <a:t>AtliQ Hardware is operational in NA, LATAM, EU and APAC regions</a:t>
            </a:r>
            <a:endParaRPr sz="1400">
              <a:solidFill>
                <a:schemeClr val="lt2"/>
              </a:solidFill>
              <a:latin typeface="Arial"/>
              <a:ea typeface="Arial"/>
              <a:cs typeface="Arial"/>
              <a:sym typeface="Arial"/>
            </a:endParaRPr>
          </a:p>
        </p:txBody>
      </p:sp>
      <p:sp>
        <p:nvSpPr>
          <p:cNvPr id="151" name="Google Shape;151;p15"/>
          <p:cNvSpPr/>
          <p:nvPr/>
        </p:nvSpPr>
        <p:spPr>
          <a:xfrm>
            <a:off x="5722000" y="1222250"/>
            <a:ext cx="2990400" cy="3256500"/>
          </a:xfrm>
          <a:prstGeom prst="round2Diag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741B47"/>
              </a:solidFill>
              <a:latin typeface="Lato"/>
              <a:ea typeface="Lato"/>
              <a:cs typeface="Lato"/>
              <a:sym typeface="Lato"/>
            </a:endParaRPr>
          </a:p>
        </p:txBody>
      </p:sp>
      <p:pic>
        <p:nvPicPr>
          <p:cNvPr id="152" name="Google Shape;152;p15" title="Screenshot 2025-11-27 083142.png"/>
          <p:cNvPicPr preferRelativeResize="0"/>
          <p:nvPr/>
        </p:nvPicPr>
        <p:blipFill>
          <a:blip r:embed="rId3">
            <a:alphaModFix/>
          </a:blip>
          <a:stretch>
            <a:fillRect/>
          </a:stretch>
        </p:blipFill>
        <p:spPr>
          <a:xfrm>
            <a:off x="5836075" y="1597950"/>
            <a:ext cx="2762250" cy="2505075"/>
          </a:xfrm>
          <a:prstGeom prst="rect">
            <a:avLst/>
          </a:prstGeom>
          <a:noFill/>
          <a:ln>
            <a:noFill/>
          </a:ln>
        </p:spPr>
      </p:pic>
      <p:sp>
        <p:nvSpPr>
          <p:cNvPr id="153" name="Google Shape;153;p15"/>
          <p:cNvSpPr/>
          <p:nvPr/>
        </p:nvSpPr>
        <p:spPr>
          <a:xfrm>
            <a:off x="959100" y="1678975"/>
            <a:ext cx="174000" cy="184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4" name="Google Shape;154;p15"/>
          <p:cNvSpPr/>
          <p:nvPr/>
        </p:nvSpPr>
        <p:spPr>
          <a:xfrm>
            <a:off x="959100" y="2758088"/>
            <a:ext cx="174000" cy="184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5" name="Google Shape;155;p15"/>
          <p:cNvSpPr/>
          <p:nvPr/>
        </p:nvSpPr>
        <p:spPr>
          <a:xfrm>
            <a:off x="959100" y="4028125"/>
            <a:ext cx="174000" cy="184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txBox="1"/>
          <p:nvPr>
            <p:ph type="title"/>
          </p:nvPr>
        </p:nvSpPr>
        <p:spPr>
          <a:xfrm>
            <a:off x="1297500" y="2755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a:solidFill>
                  <a:srgbClr val="00FFFF"/>
                </a:solidFill>
                <a:latin typeface="Times New Roman"/>
                <a:ea typeface="Times New Roman"/>
                <a:cs typeface="Times New Roman"/>
                <a:sym typeface="Times New Roman"/>
              </a:rPr>
              <a:t>Objectives</a:t>
            </a:r>
            <a:endParaRPr b="1">
              <a:solidFill>
                <a:srgbClr val="00FFFF"/>
              </a:solidFill>
              <a:latin typeface="Times New Roman"/>
              <a:ea typeface="Times New Roman"/>
              <a:cs typeface="Times New Roman"/>
              <a:sym typeface="Times New Roman"/>
            </a:endParaRPr>
          </a:p>
        </p:txBody>
      </p:sp>
      <p:sp>
        <p:nvSpPr>
          <p:cNvPr id="161" name="Google Shape;161;p16"/>
          <p:cNvSpPr/>
          <p:nvPr/>
        </p:nvSpPr>
        <p:spPr>
          <a:xfrm>
            <a:off x="1481500" y="1189650"/>
            <a:ext cx="456600" cy="489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t/>
            </a:r>
            <a:endParaRPr>
              <a:latin typeface="Lato"/>
              <a:ea typeface="Lato"/>
              <a:cs typeface="Lato"/>
              <a:sym typeface="Lato"/>
            </a:endParaRPr>
          </a:p>
        </p:txBody>
      </p:sp>
      <p:sp>
        <p:nvSpPr>
          <p:cNvPr id="162" name="Google Shape;162;p16"/>
          <p:cNvSpPr/>
          <p:nvPr/>
        </p:nvSpPr>
        <p:spPr>
          <a:xfrm>
            <a:off x="1481500" y="2021700"/>
            <a:ext cx="456600" cy="489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t/>
            </a:r>
            <a:endParaRPr>
              <a:latin typeface="Lato"/>
              <a:ea typeface="Lato"/>
              <a:cs typeface="Lato"/>
              <a:sym typeface="Lato"/>
            </a:endParaRPr>
          </a:p>
        </p:txBody>
      </p:sp>
      <p:sp>
        <p:nvSpPr>
          <p:cNvPr id="163" name="Google Shape;163;p16"/>
          <p:cNvSpPr/>
          <p:nvPr/>
        </p:nvSpPr>
        <p:spPr>
          <a:xfrm>
            <a:off x="1481500" y="2853750"/>
            <a:ext cx="456600" cy="489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t/>
            </a:r>
            <a:endParaRPr>
              <a:latin typeface="Lato"/>
              <a:ea typeface="Lato"/>
              <a:cs typeface="Lato"/>
              <a:sym typeface="Lato"/>
            </a:endParaRPr>
          </a:p>
        </p:txBody>
      </p:sp>
      <p:sp>
        <p:nvSpPr>
          <p:cNvPr id="164" name="Google Shape;164;p16"/>
          <p:cNvSpPr/>
          <p:nvPr/>
        </p:nvSpPr>
        <p:spPr>
          <a:xfrm>
            <a:off x="1481500" y="3560725"/>
            <a:ext cx="456600" cy="489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t/>
            </a:r>
            <a:endParaRPr>
              <a:latin typeface="Lato"/>
              <a:ea typeface="Lato"/>
              <a:cs typeface="Lato"/>
              <a:sym typeface="Lato"/>
            </a:endParaRPr>
          </a:p>
        </p:txBody>
      </p:sp>
      <p:sp>
        <p:nvSpPr>
          <p:cNvPr id="165" name="Google Shape;165;p16"/>
          <p:cNvSpPr/>
          <p:nvPr/>
        </p:nvSpPr>
        <p:spPr>
          <a:xfrm>
            <a:off x="1481500" y="4267700"/>
            <a:ext cx="456600" cy="489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t/>
            </a:r>
            <a:endParaRPr>
              <a:latin typeface="Lato"/>
              <a:ea typeface="Lato"/>
              <a:cs typeface="Lato"/>
              <a:sym typeface="Lato"/>
            </a:endParaRPr>
          </a:p>
        </p:txBody>
      </p:sp>
      <p:sp>
        <p:nvSpPr>
          <p:cNvPr id="166" name="Google Shape;166;p16"/>
          <p:cNvSpPr txBox="1"/>
          <p:nvPr/>
        </p:nvSpPr>
        <p:spPr>
          <a:xfrm>
            <a:off x="2187900" y="1189650"/>
            <a:ext cx="61485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2"/>
                </a:solidFill>
              </a:rPr>
              <a:t>AtliQ Hardware is one of the major computer hardware manufacturers in India, with a strong presence in other nations.</a:t>
            </a:r>
            <a:endParaRPr sz="1300">
              <a:solidFill>
                <a:schemeClr val="lt2"/>
              </a:solidFill>
            </a:endParaRPr>
          </a:p>
        </p:txBody>
      </p:sp>
      <p:sp>
        <p:nvSpPr>
          <p:cNvPr id="167" name="Google Shape;167;p16"/>
          <p:cNvSpPr txBox="1"/>
          <p:nvPr/>
        </p:nvSpPr>
        <p:spPr>
          <a:xfrm>
            <a:off x="2232050" y="2021700"/>
            <a:ext cx="61485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rPr>
              <a:t>Nevertheless, the management did note that they do not have sufficient insights to make prompt, wise, and data-informed judgments.</a:t>
            </a:r>
            <a:endParaRPr sz="1300">
              <a:solidFill>
                <a:schemeClr val="lt1"/>
              </a:solidFill>
            </a:endParaRPr>
          </a:p>
        </p:txBody>
      </p:sp>
      <p:sp>
        <p:nvSpPr>
          <p:cNvPr id="168" name="Google Shape;168;p16"/>
          <p:cNvSpPr txBox="1"/>
          <p:nvPr/>
        </p:nvSpPr>
        <p:spPr>
          <a:xfrm>
            <a:off x="2232050" y="2856438"/>
            <a:ext cx="61485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2"/>
                </a:solidFill>
              </a:rPr>
              <a:t>Plan to expand the data analytics team by adding junior data analysts.</a:t>
            </a:r>
            <a:endParaRPr sz="1300">
              <a:solidFill>
                <a:schemeClr val="lt2"/>
              </a:solidFill>
            </a:endParaRPr>
          </a:p>
        </p:txBody>
      </p:sp>
      <p:sp>
        <p:nvSpPr>
          <p:cNvPr id="169" name="Google Shape;169;p16"/>
          <p:cNvSpPr txBox="1"/>
          <p:nvPr/>
        </p:nvSpPr>
        <p:spPr>
          <a:xfrm>
            <a:off x="2232050" y="3570250"/>
            <a:ext cx="61485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rPr>
              <a:t>The company seeks insights for 9 ad hoc requests.</a:t>
            </a:r>
            <a:endParaRPr sz="1300">
              <a:solidFill>
                <a:schemeClr val="lt1"/>
              </a:solidFill>
            </a:endParaRPr>
          </a:p>
        </p:txBody>
      </p:sp>
      <p:sp>
        <p:nvSpPr>
          <p:cNvPr id="170" name="Google Shape;170;p16"/>
          <p:cNvSpPr txBox="1"/>
          <p:nvPr/>
        </p:nvSpPr>
        <p:spPr>
          <a:xfrm>
            <a:off x="2232050" y="4284050"/>
            <a:ext cx="61485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2"/>
                </a:solidFill>
              </a:rPr>
              <a:t>To assess candidates, Data analytics director, Tony Sharma plans to conduct a SQL Challenge to evaluate both tech and soft skills.</a:t>
            </a:r>
            <a:endParaRPr sz="1300">
              <a:solidFill>
                <a:schemeClr val="lt2"/>
              </a:solidFill>
            </a:endParaRPr>
          </a:p>
        </p:txBody>
      </p:sp>
      <p:pic>
        <p:nvPicPr>
          <p:cNvPr id="171" name="Google Shape;171;p16" title="Screenshot_2025-11-27_084638-removebg-preview.png"/>
          <p:cNvPicPr preferRelativeResize="0"/>
          <p:nvPr/>
        </p:nvPicPr>
        <p:blipFill>
          <a:blip r:embed="rId3">
            <a:alphaModFix/>
          </a:blip>
          <a:stretch>
            <a:fillRect/>
          </a:stretch>
        </p:blipFill>
        <p:spPr>
          <a:xfrm>
            <a:off x="1524800" y="1248525"/>
            <a:ext cx="370000" cy="371550"/>
          </a:xfrm>
          <a:prstGeom prst="rect">
            <a:avLst/>
          </a:prstGeom>
          <a:noFill/>
          <a:ln>
            <a:noFill/>
          </a:ln>
        </p:spPr>
      </p:pic>
      <p:pic>
        <p:nvPicPr>
          <p:cNvPr id="172" name="Google Shape;172;p16" title="Screenshot_2025-11-27_084638-removebg-preview.png"/>
          <p:cNvPicPr preferRelativeResize="0"/>
          <p:nvPr/>
        </p:nvPicPr>
        <p:blipFill>
          <a:blip r:embed="rId3">
            <a:alphaModFix/>
          </a:blip>
          <a:stretch>
            <a:fillRect/>
          </a:stretch>
        </p:blipFill>
        <p:spPr>
          <a:xfrm>
            <a:off x="1524800" y="2080575"/>
            <a:ext cx="370000" cy="371550"/>
          </a:xfrm>
          <a:prstGeom prst="rect">
            <a:avLst/>
          </a:prstGeom>
          <a:noFill/>
          <a:ln>
            <a:noFill/>
          </a:ln>
        </p:spPr>
      </p:pic>
      <p:pic>
        <p:nvPicPr>
          <p:cNvPr id="173" name="Google Shape;173;p16" title="Screenshot_2025-11-27_084638-removebg-preview.png"/>
          <p:cNvPicPr preferRelativeResize="0"/>
          <p:nvPr/>
        </p:nvPicPr>
        <p:blipFill>
          <a:blip r:embed="rId3">
            <a:alphaModFix/>
          </a:blip>
          <a:stretch>
            <a:fillRect/>
          </a:stretch>
        </p:blipFill>
        <p:spPr>
          <a:xfrm>
            <a:off x="1524800" y="2912625"/>
            <a:ext cx="370000" cy="371550"/>
          </a:xfrm>
          <a:prstGeom prst="rect">
            <a:avLst/>
          </a:prstGeom>
          <a:noFill/>
          <a:ln>
            <a:noFill/>
          </a:ln>
        </p:spPr>
      </p:pic>
      <p:pic>
        <p:nvPicPr>
          <p:cNvPr id="174" name="Google Shape;174;p16" title="Screenshot_2025-11-27_084638-removebg-preview.png"/>
          <p:cNvPicPr preferRelativeResize="0"/>
          <p:nvPr/>
        </p:nvPicPr>
        <p:blipFill>
          <a:blip r:embed="rId3">
            <a:alphaModFix/>
          </a:blip>
          <a:stretch>
            <a:fillRect/>
          </a:stretch>
        </p:blipFill>
        <p:spPr>
          <a:xfrm>
            <a:off x="1524800" y="3619600"/>
            <a:ext cx="370000" cy="371550"/>
          </a:xfrm>
          <a:prstGeom prst="rect">
            <a:avLst/>
          </a:prstGeom>
          <a:noFill/>
          <a:ln>
            <a:noFill/>
          </a:ln>
        </p:spPr>
      </p:pic>
      <p:pic>
        <p:nvPicPr>
          <p:cNvPr id="175" name="Google Shape;175;p16" title="Screenshot_2025-11-27_084638-removebg-preview.png"/>
          <p:cNvPicPr preferRelativeResize="0"/>
          <p:nvPr/>
        </p:nvPicPr>
        <p:blipFill>
          <a:blip r:embed="rId3">
            <a:alphaModFix/>
          </a:blip>
          <a:stretch>
            <a:fillRect/>
          </a:stretch>
        </p:blipFill>
        <p:spPr>
          <a:xfrm>
            <a:off x="1524800" y="4326575"/>
            <a:ext cx="370000" cy="371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a:solidFill>
                  <a:srgbClr val="00FFFF"/>
                </a:solidFill>
                <a:latin typeface="Times New Roman"/>
                <a:ea typeface="Times New Roman"/>
                <a:cs typeface="Times New Roman"/>
                <a:sym typeface="Times New Roman"/>
              </a:rPr>
              <a:t>Company’s Market</a:t>
            </a:r>
            <a:endParaRPr b="1">
              <a:solidFill>
                <a:srgbClr val="00FFFF"/>
              </a:solidFill>
              <a:latin typeface="Times New Roman"/>
              <a:ea typeface="Times New Roman"/>
              <a:cs typeface="Times New Roman"/>
              <a:sym typeface="Times New Roman"/>
            </a:endParaRPr>
          </a:p>
        </p:txBody>
      </p:sp>
      <p:sp>
        <p:nvSpPr>
          <p:cNvPr id="181" name="Google Shape;181;p17"/>
          <p:cNvSpPr txBox="1"/>
          <p:nvPr>
            <p:ph idx="1" type="body"/>
          </p:nvPr>
        </p:nvSpPr>
        <p:spPr>
          <a:xfrm>
            <a:off x="275325" y="1469700"/>
            <a:ext cx="4815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GB" sz="1400">
                <a:solidFill>
                  <a:schemeClr val="lt2"/>
                </a:solidFill>
                <a:latin typeface="Arial"/>
                <a:ea typeface="Arial"/>
                <a:cs typeface="Arial"/>
                <a:sym typeface="Arial"/>
              </a:rPr>
              <a:t>AtliQ Hardware operates across four major regions: North America (NA), Latin America (LATAM), Europe (EU), and Asia Pacific (APAC). This global presence allows AtliQ to serve diverse customer needs with products in Networking and Storage, PCs, Peripherals and Accessories.</a:t>
            </a:r>
            <a:endParaRPr sz="1400">
              <a:solidFill>
                <a:schemeClr val="lt2"/>
              </a:solidFill>
              <a:latin typeface="Arial"/>
              <a:ea typeface="Arial"/>
              <a:cs typeface="Arial"/>
              <a:sym typeface="Arial"/>
            </a:endParaRPr>
          </a:p>
          <a:p>
            <a:pPr indent="0" lvl="0" marL="0" rtl="0" algn="l">
              <a:spcBef>
                <a:spcPts val="1200"/>
              </a:spcBef>
              <a:spcAft>
                <a:spcPts val="0"/>
              </a:spcAft>
              <a:buSzPts val="275"/>
              <a:buNone/>
            </a:pPr>
            <a:r>
              <a:t/>
            </a:r>
            <a:endParaRPr sz="1400">
              <a:solidFill>
                <a:schemeClr val="lt2"/>
              </a:solidFill>
              <a:latin typeface="Arial"/>
              <a:ea typeface="Arial"/>
              <a:cs typeface="Arial"/>
              <a:sym typeface="Arial"/>
            </a:endParaRPr>
          </a:p>
          <a:p>
            <a:pPr indent="0" lvl="0" marL="0" rtl="0" algn="l">
              <a:spcBef>
                <a:spcPts val="1200"/>
              </a:spcBef>
              <a:spcAft>
                <a:spcPts val="0"/>
              </a:spcAft>
              <a:buSzPts val="275"/>
              <a:buNone/>
            </a:pPr>
            <a:r>
              <a:rPr lang="en-GB" sz="1400">
                <a:latin typeface="Arial"/>
                <a:ea typeface="Arial"/>
                <a:cs typeface="Arial"/>
                <a:sym typeface="Arial"/>
              </a:rPr>
              <a:t>In NA and EU, AtliQ benefits from strong demand for Advanced Computing Solutions. LATAM and APAC, with their growing economies, offer Significant Opportunities for Expansion. This strategic positioning ensures AtliQ's sustained growth and customer satisfaction worldwide.</a:t>
            </a:r>
            <a:endParaRPr sz="1400">
              <a:latin typeface="Arial"/>
              <a:ea typeface="Arial"/>
              <a:cs typeface="Arial"/>
              <a:sym typeface="Arial"/>
            </a:endParaRPr>
          </a:p>
          <a:p>
            <a:pPr indent="0" lvl="0" marL="0" rtl="0" algn="l">
              <a:spcBef>
                <a:spcPts val="1200"/>
              </a:spcBef>
              <a:spcAft>
                <a:spcPts val="1200"/>
              </a:spcAft>
              <a:buSzPts val="275"/>
              <a:buNone/>
            </a:pPr>
            <a:r>
              <a:t/>
            </a:r>
            <a:endParaRPr sz="1400">
              <a:solidFill>
                <a:schemeClr val="lt2"/>
              </a:solidFill>
            </a:endParaRPr>
          </a:p>
        </p:txBody>
      </p:sp>
      <p:pic>
        <p:nvPicPr>
          <p:cNvPr id="182" name="Google Shape;182;p17" title="Screenshot 2025-11-27 083932.png"/>
          <p:cNvPicPr preferRelativeResize="0"/>
          <p:nvPr/>
        </p:nvPicPr>
        <p:blipFill>
          <a:blip r:embed="rId3">
            <a:alphaModFix/>
          </a:blip>
          <a:stretch>
            <a:fillRect/>
          </a:stretch>
        </p:blipFill>
        <p:spPr>
          <a:xfrm>
            <a:off x="5243625" y="1460250"/>
            <a:ext cx="3747975" cy="2741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8"/>
          <p:cNvSpPr txBox="1"/>
          <p:nvPr>
            <p:ph idx="1" type="body"/>
          </p:nvPr>
        </p:nvSpPr>
        <p:spPr>
          <a:xfrm>
            <a:off x="1482350" y="200050"/>
            <a:ext cx="7066800" cy="924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Times New Roman"/>
              <a:buAutoNum type="arabicParenR"/>
            </a:pPr>
            <a:r>
              <a:rPr lang="en-GB" sz="1400">
                <a:latin typeface="Times New Roman"/>
                <a:ea typeface="Times New Roman"/>
                <a:cs typeface="Times New Roman"/>
                <a:sym typeface="Times New Roman"/>
              </a:rPr>
              <a:t> Provide a sales report for Croma India for the financial year 2021, including all products, their variants, quantities sold, and total gross revenue.</a:t>
            </a:r>
            <a:endParaRPr sz="1400">
              <a:latin typeface="Times New Roman"/>
              <a:ea typeface="Times New Roman"/>
              <a:cs typeface="Times New Roman"/>
              <a:sym typeface="Times New Roman"/>
            </a:endParaRPr>
          </a:p>
        </p:txBody>
      </p:sp>
      <p:pic>
        <p:nvPicPr>
          <p:cNvPr id="188" name="Google Shape;188;p18" title="Task-1.png"/>
          <p:cNvPicPr preferRelativeResize="0"/>
          <p:nvPr/>
        </p:nvPicPr>
        <p:blipFill>
          <a:blip r:embed="rId3">
            <a:alphaModFix/>
          </a:blip>
          <a:stretch>
            <a:fillRect/>
          </a:stretch>
        </p:blipFill>
        <p:spPr>
          <a:xfrm>
            <a:off x="1133100" y="983150"/>
            <a:ext cx="7329200" cy="1805000"/>
          </a:xfrm>
          <a:prstGeom prst="rect">
            <a:avLst/>
          </a:prstGeom>
          <a:noFill/>
          <a:ln>
            <a:noFill/>
          </a:ln>
        </p:spPr>
      </p:pic>
      <p:pic>
        <p:nvPicPr>
          <p:cNvPr id="189" name="Google Shape;189;p18" title="Report task-1.png"/>
          <p:cNvPicPr preferRelativeResize="0"/>
          <p:nvPr/>
        </p:nvPicPr>
        <p:blipFill>
          <a:blip r:embed="rId4">
            <a:alphaModFix/>
          </a:blip>
          <a:stretch>
            <a:fillRect/>
          </a:stretch>
        </p:blipFill>
        <p:spPr>
          <a:xfrm>
            <a:off x="263350" y="3027375"/>
            <a:ext cx="3900126" cy="1913825"/>
          </a:xfrm>
          <a:prstGeom prst="rect">
            <a:avLst/>
          </a:prstGeom>
          <a:noFill/>
          <a:ln>
            <a:noFill/>
          </a:ln>
        </p:spPr>
      </p:pic>
      <p:sp>
        <p:nvSpPr>
          <p:cNvPr id="190" name="Google Shape;190;p18"/>
          <p:cNvSpPr/>
          <p:nvPr/>
        </p:nvSpPr>
        <p:spPr>
          <a:xfrm>
            <a:off x="4330100" y="3027375"/>
            <a:ext cx="4197600" cy="18705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1" name="Google Shape;191;p18"/>
          <p:cNvSpPr txBox="1"/>
          <p:nvPr/>
        </p:nvSpPr>
        <p:spPr>
          <a:xfrm>
            <a:off x="4547600" y="3114400"/>
            <a:ext cx="3762600" cy="138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i="1" lang="en-GB" sz="1300">
                <a:solidFill>
                  <a:srgbClr val="20124D"/>
                </a:solidFill>
              </a:rPr>
              <a:t>Key Insights</a:t>
            </a:r>
            <a:endParaRPr b="1" i="1" sz="1300">
              <a:solidFill>
                <a:srgbClr val="20124D"/>
              </a:solidFill>
            </a:endParaRPr>
          </a:p>
          <a:p>
            <a:pPr indent="-298450" lvl="0" marL="457200" rtl="0" algn="l">
              <a:lnSpc>
                <a:spcPct val="115000"/>
              </a:lnSpc>
              <a:spcBef>
                <a:spcPts val="1200"/>
              </a:spcBef>
              <a:spcAft>
                <a:spcPts val="0"/>
              </a:spcAft>
              <a:buClr>
                <a:srgbClr val="4C1130"/>
              </a:buClr>
              <a:buSzPts val="1100"/>
              <a:buChar char="●"/>
            </a:pPr>
            <a:r>
              <a:rPr lang="en-GB" sz="1100">
                <a:solidFill>
                  <a:srgbClr val="4C1130"/>
                </a:solidFill>
              </a:rPr>
              <a:t>The </a:t>
            </a:r>
            <a:r>
              <a:rPr i="1" lang="en-GB" sz="1100">
                <a:solidFill>
                  <a:srgbClr val="4C1130"/>
                </a:solidFill>
              </a:rPr>
              <a:t>AQ Dracula HDD (Standard Variant)</a:t>
            </a:r>
            <a:r>
              <a:rPr lang="en-GB" sz="1100">
                <a:solidFill>
                  <a:srgbClr val="4C1130"/>
                </a:solidFill>
              </a:rPr>
              <a:t> contributed </a:t>
            </a:r>
            <a:r>
              <a:rPr b="1" lang="en-GB" sz="1100">
                <a:solidFill>
                  <a:srgbClr val="4C1130"/>
                </a:solidFill>
              </a:rPr>
              <a:t>₹3,849.57</a:t>
            </a:r>
            <a:r>
              <a:rPr lang="en-GB" sz="1100">
                <a:solidFill>
                  <a:srgbClr val="4C1130"/>
                </a:solidFill>
              </a:rPr>
              <a:t> in total gross revenue during FY 2021.</a:t>
            </a:r>
            <a:endParaRPr sz="1100">
              <a:solidFill>
                <a:srgbClr val="4C1130"/>
              </a:solidFill>
            </a:endParaRPr>
          </a:p>
          <a:p>
            <a:pPr indent="-298450" lvl="0" marL="457200" rtl="0" algn="l">
              <a:lnSpc>
                <a:spcPct val="115000"/>
              </a:lnSpc>
              <a:spcBef>
                <a:spcPts val="0"/>
              </a:spcBef>
              <a:spcAft>
                <a:spcPts val="0"/>
              </a:spcAft>
              <a:buClr>
                <a:srgbClr val="4C1130"/>
              </a:buClr>
              <a:buSzPts val="1100"/>
              <a:buChar char="●"/>
            </a:pPr>
            <a:r>
              <a:rPr lang="en-GB" sz="1100">
                <a:solidFill>
                  <a:srgbClr val="4C1130"/>
                </a:solidFill>
              </a:rPr>
              <a:t>A total of </a:t>
            </a:r>
            <a:r>
              <a:rPr b="1" lang="en-GB" sz="1100">
                <a:solidFill>
                  <a:srgbClr val="4C1130"/>
                </a:solidFill>
              </a:rPr>
              <a:t>202 units</a:t>
            </a:r>
            <a:r>
              <a:rPr lang="en-GB" sz="1100">
                <a:solidFill>
                  <a:srgbClr val="4C1130"/>
                </a:solidFill>
              </a:rPr>
              <a:t> were successfully sold, reflecting consistent demand for mid-range internal storage solutions.</a:t>
            </a:r>
            <a:endParaRPr sz="1100">
              <a:solidFill>
                <a:srgbClr val="4C1130"/>
              </a:solidFill>
            </a:endParaRPr>
          </a:p>
          <a:p>
            <a:pPr indent="0" lvl="0" marL="0" rtl="0" algn="l">
              <a:spcBef>
                <a:spcPts val="120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9"/>
          <p:cNvSpPr txBox="1"/>
          <p:nvPr>
            <p:ph idx="1" type="body"/>
          </p:nvPr>
        </p:nvSpPr>
        <p:spPr>
          <a:xfrm>
            <a:off x="1482350" y="200050"/>
            <a:ext cx="7066800" cy="92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400">
                <a:latin typeface="Times New Roman"/>
                <a:ea typeface="Times New Roman"/>
                <a:cs typeface="Times New Roman"/>
                <a:sym typeface="Times New Roman"/>
              </a:rPr>
              <a:t>2)    Provide an aggregated monthly gross sales report for Croma India.</a:t>
            </a:r>
            <a:endParaRPr sz="1400">
              <a:latin typeface="Times New Roman"/>
              <a:ea typeface="Times New Roman"/>
              <a:cs typeface="Times New Roman"/>
              <a:sym typeface="Times New Roman"/>
            </a:endParaRPr>
          </a:p>
        </p:txBody>
      </p:sp>
      <p:pic>
        <p:nvPicPr>
          <p:cNvPr id="197" name="Google Shape;197;p19" title="Task-2.png"/>
          <p:cNvPicPr preferRelativeResize="0"/>
          <p:nvPr/>
        </p:nvPicPr>
        <p:blipFill>
          <a:blip r:embed="rId3">
            <a:alphaModFix/>
          </a:blip>
          <a:stretch>
            <a:fillRect/>
          </a:stretch>
        </p:blipFill>
        <p:spPr>
          <a:xfrm>
            <a:off x="1283800" y="687200"/>
            <a:ext cx="5301975" cy="1742100"/>
          </a:xfrm>
          <a:prstGeom prst="rect">
            <a:avLst/>
          </a:prstGeom>
          <a:noFill/>
          <a:ln>
            <a:noFill/>
          </a:ln>
        </p:spPr>
      </p:pic>
      <p:pic>
        <p:nvPicPr>
          <p:cNvPr id="198" name="Google Shape;198;p19" title="Report.png"/>
          <p:cNvPicPr preferRelativeResize="0"/>
          <p:nvPr/>
        </p:nvPicPr>
        <p:blipFill>
          <a:blip r:embed="rId4">
            <a:alphaModFix/>
          </a:blip>
          <a:stretch>
            <a:fillRect/>
          </a:stretch>
        </p:blipFill>
        <p:spPr>
          <a:xfrm>
            <a:off x="6833975" y="687200"/>
            <a:ext cx="2035750" cy="4341025"/>
          </a:xfrm>
          <a:prstGeom prst="rect">
            <a:avLst/>
          </a:prstGeom>
          <a:noFill/>
          <a:ln>
            <a:noFill/>
          </a:ln>
        </p:spPr>
      </p:pic>
      <p:sp>
        <p:nvSpPr>
          <p:cNvPr id="199" name="Google Shape;199;p19"/>
          <p:cNvSpPr/>
          <p:nvPr/>
        </p:nvSpPr>
        <p:spPr>
          <a:xfrm>
            <a:off x="252275" y="2679400"/>
            <a:ext cx="6393900" cy="21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0" name="Google Shape;200;p19"/>
          <p:cNvCxnSpPr/>
          <p:nvPr/>
        </p:nvCxnSpPr>
        <p:spPr>
          <a:xfrm>
            <a:off x="502400" y="2973000"/>
            <a:ext cx="2881800" cy="0"/>
          </a:xfrm>
          <a:prstGeom prst="straightConnector1">
            <a:avLst/>
          </a:prstGeom>
          <a:noFill/>
          <a:ln cap="flat" cmpd="sng" w="9525">
            <a:solidFill>
              <a:schemeClr val="dk2"/>
            </a:solidFill>
            <a:prstDash val="solid"/>
            <a:round/>
            <a:headEnd len="med" w="med" type="none"/>
            <a:tailEnd len="med" w="med" type="none"/>
          </a:ln>
        </p:spPr>
      </p:cxnSp>
      <p:cxnSp>
        <p:nvCxnSpPr>
          <p:cNvPr id="201" name="Google Shape;201;p19"/>
          <p:cNvCxnSpPr/>
          <p:nvPr/>
        </p:nvCxnSpPr>
        <p:spPr>
          <a:xfrm>
            <a:off x="964550" y="2842525"/>
            <a:ext cx="5400" cy="1957500"/>
          </a:xfrm>
          <a:prstGeom prst="straightConnector1">
            <a:avLst/>
          </a:prstGeom>
          <a:noFill/>
          <a:ln cap="flat" cmpd="sng" w="9525">
            <a:solidFill>
              <a:schemeClr val="dk2"/>
            </a:solidFill>
            <a:prstDash val="solid"/>
            <a:round/>
            <a:headEnd len="med" w="med" type="none"/>
            <a:tailEnd len="med" w="med" type="none"/>
          </a:ln>
        </p:spPr>
      </p:cxnSp>
      <p:sp>
        <p:nvSpPr>
          <p:cNvPr id="202" name="Google Shape;202;p19"/>
          <p:cNvSpPr txBox="1"/>
          <p:nvPr/>
        </p:nvSpPr>
        <p:spPr>
          <a:xfrm>
            <a:off x="502400" y="2679400"/>
            <a:ext cx="9351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434343"/>
                </a:solidFill>
                <a:latin typeface="Lato"/>
                <a:ea typeface="Lato"/>
                <a:cs typeface="Lato"/>
                <a:sym typeface="Lato"/>
              </a:rPr>
              <a:t>Year</a:t>
            </a:r>
            <a:endParaRPr sz="1300">
              <a:solidFill>
                <a:srgbClr val="434343"/>
              </a:solidFill>
              <a:latin typeface="Lato"/>
              <a:ea typeface="Lato"/>
              <a:cs typeface="Lato"/>
              <a:sym typeface="Lato"/>
            </a:endParaRPr>
          </a:p>
        </p:txBody>
      </p:sp>
      <p:sp>
        <p:nvSpPr>
          <p:cNvPr id="203" name="Google Shape;203;p19"/>
          <p:cNvSpPr txBox="1"/>
          <p:nvPr/>
        </p:nvSpPr>
        <p:spPr>
          <a:xfrm>
            <a:off x="437125" y="2973000"/>
            <a:ext cx="609000" cy="13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434343"/>
                </a:solidFill>
                <a:latin typeface="Lato"/>
                <a:ea typeface="Lato"/>
                <a:cs typeface="Lato"/>
                <a:sym typeface="Lato"/>
              </a:rPr>
              <a:t>2017</a:t>
            </a:r>
            <a:br>
              <a:rPr lang="en-GB" sz="1300">
                <a:solidFill>
                  <a:srgbClr val="434343"/>
                </a:solidFill>
                <a:latin typeface="Lato"/>
                <a:ea typeface="Lato"/>
                <a:cs typeface="Lato"/>
                <a:sym typeface="Lato"/>
              </a:rPr>
            </a:br>
            <a:br>
              <a:rPr lang="en-GB" sz="1300">
                <a:solidFill>
                  <a:srgbClr val="434343"/>
                </a:solidFill>
                <a:latin typeface="Lato"/>
                <a:ea typeface="Lato"/>
                <a:cs typeface="Lato"/>
                <a:sym typeface="Lato"/>
              </a:rPr>
            </a:br>
            <a:r>
              <a:rPr lang="en-GB" sz="1300">
                <a:solidFill>
                  <a:srgbClr val="434343"/>
                </a:solidFill>
                <a:latin typeface="Lato"/>
                <a:ea typeface="Lato"/>
                <a:cs typeface="Lato"/>
                <a:sym typeface="Lato"/>
              </a:rPr>
              <a:t>2018</a:t>
            </a:r>
            <a:br>
              <a:rPr lang="en-GB" sz="1300">
                <a:solidFill>
                  <a:srgbClr val="434343"/>
                </a:solidFill>
                <a:latin typeface="Lato"/>
                <a:ea typeface="Lato"/>
                <a:cs typeface="Lato"/>
                <a:sym typeface="Lato"/>
              </a:rPr>
            </a:br>
            <a:br>
              <a:rPr lang="en-GB" sz="1300">
                <a:solidFill>
                  <a:srgbClr val="434343"/>
                </a:solidFill>
                <a:latin typeface="Lato"/>
                <a:ea typeface="Lato"/>
                <a:cs typeface="Lato"/>
                <a:sym typeface="Lato"/>
              </a:rPr>
            </a:br>
            <a:r>
              <a:rPr lang="en-GB" sz="1300">
                <a:solidFill>
                  <a:srgbClr val="434343"/>
                </a:solidFill>
                <a:latin typeface="Lato"/>
                <a:ea typeface="Lato"/>
                <a:cs typeface="Lato"/>
                <a:sym typeface="Lato"/>
              </a:rPr>
              <a:t>2019</a:t>
            </a:r>
            <a:br>
              <a:rPr lang="en-GB" sz="1300">
                <a:solidFill>
                  <a:srgbClr val="434343"/>
                </a:solidFill>
                <a:latin typeface="Lato"/>
                <a:ea typeface="Lato"/>
                <a:cs typeface="Lato"/>
                <a:sym typeface="Lato"/>
              </a:rPr>
            </a:br>
            <a:br>
              <a:rPr lang="en-GB" sz="1300">
                <a:solidFill>
                  <a:srgbClr val="434343"/>
                </a:solidFill>
                <a:latin typeface="Lato"/>
                <a:ea typeface="Lato"/>
                <a:cs typeface="Lato"/>
                <a:sym typeface="Lato"/>
              </a:rPr>
            </a:br>
            <a:r>
              <a:rPr lang="en-GB" sz="1300">
                <a:solidFill>
                  <a:srgbClr val="434343"/>
                </a:solidFill>
                <a:latin typeface="Lato"/>
                <a:ea typeface="Lato"/>
                <a:cs typeface="Lato"/>
                <a:sym typeface="Lato"/>
              </a:rPr>
              <a:t>2020</a:t>
            </a:r>
            <a:br>
              <a:rPr lang="en-GB" sz="1300">
                <a:solidFill>
                  <a:srgbClr val="434343"/>
                </a:solidFill>
                <a:latin typeface="Lato"/>
                <a:ea typeface="Lato"/>
                <a:cs typeface="Lato"/>
                <a:sym typeface="Lato"/>
              </a:rPr>
            </a:br>
            <a:br>
              <a:rPr lang="en-GB" sz="1300">
                <a:solidFill>
                  <a:srgbClr val="434343"/>
                </a:solidFill>
                <a:latin typeface="Lato"/>
                <a:ea typeface="Lato"/>
                <a:cs typeface="Lato"/>
                <a:sym typeface="Lato"/>
              </a:rPr>
            </a:br>
            <a:r>
              <a:rPr lang="en-GB" sz="1300">
                <a:solidFill>
                  <a:srgbClr val="434343"/>
                </a:solidFill>
                <a:latin typeface="Lato"/>
                <a:ea typeface="Lato"/>
                <a:cs typeface="Lato"/>
                <a:sym typeface="Lato"/>
              </a:rPr>
              <a:t>2021</a:t>
            </a:r>
            <a:endParaRPr sz="1300">
              <a:solidFill>
                <a:srgbClr val="434343"/>
              </a:solidFill>
              <a:latin typeface="Lato"/>
              <a:ea typeface="Lato"/>
              <a:cs typeface="Lato"/>
              <a:sym typeface="Lato"/>
            </a:endParaRPr>
          </a:p>
        </p:txBody>
      </p:sp>
      <p:sp>
        <p:nvSpPr>
          <p:cNvPr id="204" name="Google Shape;204;p19"/>
          <p:cNvSpPr txBox="1"/>
          <p:nvPr/>
        </p:nvSpPr>
        <p:spPr>
          <a:xfrm>
            <a:off x="964550" y="2679400"/>
            <a:ext cx="26967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434343"/>
                </a:solidFill>
                <a:latin typeface="Lato"/>
                <a:ea typeface="Lato"/>
                <a:cs typeface="Lato"/>
                <a:sym typeface="Lato"/>
              </a:rPr>
              <a:t>Maximum Monthly Gross Revenue </a:t>
            </a:r>
            <a:endParaRPr sz="1300">
              <a:solidFill>
                <a:srgbClr val="434343"/>
              </a:solidFill>
              <a:latin typeface="Lato"/>
              <a:ea typeface="Lato"/>
              <a:cs typeface="Lato"/>
              <a:sym typeface="Lato"/>
            </a:endParaRPr>
          </a:p>
        </p:txBody>
      </p:sp>
      <p:sp>
        <p:nvSpPr>
          <p:cNvPr id="205" name="Google Shape;205;p19"/>
          <p:cNvSpPr txBox="1"/>
          <p:nvPr/>
        </p:nvSpPr>
        <p:spPr>
          <a:xfrm>
            <a:off x="1283800" y="2973000"/>
            <a:ext cx="1350000" cy="13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434343"/>
                </a:solidFill>
                <a:latin typeface="Lato"/>
                <a:ea typeface="Lato"/>
                <a:cs typeface="Lato"/>
                <a:sym typeface="Lato"/>
              </a:rPr>
              <a:t>1,173,098.31</a:t>
            </a:r>
            <a:br>
              <a:rPr lang="en-GB" sz="1300">
                <a:solidFill>
                  <a:srgbClr val="434343"/>
                </a:solidFill>
                <a:latin typeface="Lato"/>
                <a:ea typeface="Lato"/>
                <a:cs typeface="Lato"/>
                <a:sym typeface="Lato"/>
              </a:rPr>
            </a:br>
            <a:br>
              <a:rPr lang="en-GB" sz="1300">
                <a:solidFill>
                  <a:srgbClr val="434343"/>
                </a:solidFill>
                <a:latin typeface="Lato"/>
                <a:ea typeface="Lato"/>
                <a:cs typeface="Lato"/>
                <a:sym typeface="Lato"/>
              </a:rPr>
            </a:br>
            <a:r>
              <a:rPr lang="en-GB" sz="1300">
                <a:solidFill>
                  <a:srgbClr val="434343"/>
                </a:solidFill>
                <a:latin typeface="Lato"/>
                <a:ea typeface="Lato"/>
                <a:cs typeface="Lato"/>
                <a:sym typeface="Lato"/>
              </a:rPr>
              <a:t>3,022,766.25</a:t>
            </a:r>
            <a:br>
              <a:rPr lang="en-GB" sz="1300">
                <a:solidFill>
                  <a:srgbClr val="434343"/>
                </a:solidFill>
                <a:latin typeface="Lato"/>
                <a:ea typeface="Lato"/>
                <a:cs typeface="Lato"/>
                <a:sym typeface="Lato"/>
              </a:rPr>
            </a:br>
            <a:br>
              <a:rPr lang="en-GB" sz="1300">
                <a:solidFill>
                  <a:srgbClr val="434343"/>
                </a:solidFill>
                <a:latin typeface="Lato"/>
                <a:ea typeface="Lato"/>
                <a:cs typeface="Lato"/>
                <a:sym typeface="Lato"/>
              </a:rPr>
            </a:br>
            <a:r>
              <a:rPr lang="en-GB" sz="1300">
                <a:solidFill>
                  <a:srgbClr val="434343"/>
                </a:solidFill>
                <a:latin typeface="Lato"/>
                <a:ea typeface="Lato"/>
                <a:cs typeface="Lato"/>
                <a:sym typeface="Lato"/>
              </a:rPr>
              <a:t>5,629,655.65</a:t>
            </a:r>
            <a:br>
              <a:rPr lang="en-GB" sz="1300">
                <a:solidFill>
                  <a:srgbClr val="434343"/>
                </a:solidFill>
                <a:latin typeface="Lato"/>
                <a:ea typeface="Lato"/>
                <a:cs typeface="Lato"/>
                <a:sym typeface="Lato"/>
              </a:rPr>
            </a:br>
            <a:br>
              <a:rPr lang="en-GB" sz="1300">
                <a:solidFill>
                  <a:srgbClr val="434343"/>
                </a:solidFill>
                <a:latin typeface="Lato"/>
                <a:ea typeface="Lato"/>
                <a:cs typeface="Lato"/>
                <a:sym typeface="Lato"/>
              </a:rPr>
            </a:br>
            <a:r>
              <a:rPr lang="en-GB" sz="1300">
                <a:solidFill>
                  <a:srgbClr val="434343"/>
                </a:solidFill>
                <a:latin typeface="Lato"/>
                <a:ea typeface="Lato"/>
                <a:cs typeface="Lato"/>
                <a:sym typeface="Lato"/>
              </a:rPr>
              <a:t>12,553,037.40</a:t>
            </a:r>
            <a:br>
              <a:rPr lang="en-GB" sz="1300">
                <a:solidFill>
                  <a:srgbClr val="434343"/>
                </a:solidFill>
                <a:latin typeface="Lato"/>
                <a:ea typeface="Lato"/>
                <a:cs typeface="Lato"/>
                <a:sym typeface="Lato"/>
              </a:rPr>
            </a:br>
            <a:br>
              <a:rPr lang="en-GB" sz="1300">
                <a:solidFill>
                  <a:srgbClr val="434343"/>
                </a:solidFill>
                <a:latin typeface="Lato"/>
                <a:ea typeface="Lato"/>
                <a:cs typeface="Lato"/>
                <a:sym typeface="Lato"/>
              </a:rPr>
            </a:br>
            <a:r>
              <a:rPr lang="en-GB" sz="1300">
                <a:solidFill>
                  <a:srgbClr val="434343"/>
                </a:solidFill>
                <a:latin typeface="Lato"/>
                <a:ea typeface="Lato"/>
                <a:cs typeface="Lato"/>
                <a:sym typeface="Lato"/>
              </a:rPr>
              <a:t>53,116,138.93</a:t>
            </a:r>
            <a:endParaRPr sz="1300">
              <a:solidFill>
                <a:srgbClr val="434343"/>
              </a:solidFill>
              <a:latin typeface="Lato"/>
              <a:ea typeface="Lato"/>
              <a:cs typeface="Lato"/>
              <a:sym typeface="Lato"/>
            </a:endParaRPr>
          </a:p>
        </p:txBody>
      </p:sp>
      <p:sp>
        <p:nvSpPr>
          <p:cNvPr id="206" name="Google Shape;206;p19"/>
          <p:cNvSpPr txBox="1"/>
          <p:nvPr/>
        </p:nvSpPr>
        <p:spPr>
          <a:xfrm>
            <a:off x="2947650" y="3043750"/>
            <a:ext cx="3638100" cy="14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274E13"/>
                </a:solidFill>
              </a:rPr>
              <a:t>Gross revenue shows a </a:t>
            </a:r>
            <a:r>
              <a:rPr b="1" lang="en-GB" sz="1100">
                <a:solidFill>
                  <a:srgbClr val="274E13"/>
                </a:solidFill>
              </a:rPr>
              <a:t>consistent upward trend</a:t>
            </a:r>
            <a:r>
              <a:rPr lang="en-GB" sz="1100">
                <a:solidFill>
                  <a:srgbClr val="274E13"/>
                </a:solidFill>
              </a:rPr>
              <a:t> from 2017 to 2021.</a:t>
            </a:r>
            <a:br>
              <a:rPr lang="en-GB" sz="1100">
                <a:solidFill>
                  <a:srgbClr val="274E13"/>
                </a:solidFill>
              </a:rPr>
            </a:br>
            <a:endParaRPr sz="1100">
              <a:solidFill>
                <a:srgbClr val="274E13"/>
              </a:solidFill>
            </a:endParaRPr>
          </a:p>
          <a:p>
            <a:pPr indent="0" lvl="0" marL="0" rtl="0" algn="l">
              <a:spcBef>
                <a:spcPts val="0"/>
              </a:spcBef>
              <a:spcAft>
                <a:spcPts val="0"/>
              </a:spcAft>
              <a:buNone/>
            </a:pPr>
            <a:r>
              <a:rPr lang="en-GB" sz="1100">
                <a:solidFill>
                  <a:srgbClr val="274E13"/>
                </a:solidFill>
              </a:rPr>
              <a:t>The most significant increase occurred between </a:t>
            </a:r>
            <a:r>
              <a:rPr b="1" lang="en-GB" sz="1100">
                <a:solidFill>
                  <a:srgbClr val="274E13"/>
                </a:solidFill>
              </a:rPr>
              <a:t>2020 and 2021</a:t>
            </a:r>
            <a:r>
              <a:rPr lang="en-GB" sz="1100">
                <a:solidFill>
                  <a:srgbClr val="274E13"/>
                </a:solidFill>
              </a:rPr>
              <a:t>, where maximum monthly revenue surged from ₹12.55 million to ₹53.11 million.</a:t>
            </a:r>
            <a:br>
              <a:rPr lang="en-GB" sz="1100">
                <a:solidFill>
                  <a:srgbClr val="274E13"/>
                </a:solidFill>
              </a:rPr>
            </a:br>
            <a:endParaRPr sz="1100">
              <a:solidFill>
                <a:srgbClr val="274E13"/>
              </a:solidFill>
            </a:endParaRPr>
          </a:p>
          <a:p>
            <a:pPr indent="0" lvl="0" marL="0" rtl="0" algn="l">
              <a:spcBef>
                <a:spcPts val="0"/>
              </a:spcBef>
              <a:spcAft>
                <a:spcPts val="0"/>
              </a:spcAft>
              <a:buNone/>
            </a:pPr>
            <a:r>
              <a:rPr lang="en-GB" sz="1100">
                <a:solidFill>
                  <a:srgbClr val="274E13"/>
                </a:solidFill>
              </a:rPr>
              <a:t>Such growth indicates strong market expansion and improved sales performance across product categories.</a:t>
            </a:r>
            <a:endParaRPr sz="1100">
              <a:solidFill>
                <a:srgbClr val="274E13"/>
              </a:solidFill>
            </a:endParaRPr>
          </a:p>
          <a:p>
            <a:pPr indent="0" lvl="0" marL="0" rtl="0" algn="l">
              <a:spcBef>
                <a:spcPts val="0"/>
              </a:spcBef>
              <a:spcAft>
                <a:spcPts val="0"/>
              </a:spcAft>
              <a:buNone/>
            </a:pPr>
            <a:r>
              <a:t/>
            </a:r>
            <a:endParaRPr sz="1300">
              <a:solidFill>
                <a:srgbClr val="274E13"/>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idx="1" type="body"/>
          </p:nvPr>
        </p:nvSpPr>
        <p:spPr>
          <a:xfrm>
            <a:off x="1504100" y="319675"/>
            <a:ext cx="7066800" cy="92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400">
                <a:latin typeface="Times New Roman"/>
                <a:ea typeface="Times New Roman"/>
                <a:cs typeface="Times New Roman"/>
                <a:sym typeface="Times New Roman"/>
              </a:rPr>
              <a:t>3</a:t>
            </a:r>
            <a:r>
              <a:rPr lang="en-GB" sz="1400">
                <a:latin typeface="Times New Roman"/>
                <a:ea typeface="Times New Roman"/>
                <a:cs typeface="Times New Roman"/>
                <a:sym typeface="Times New Roman"/>
              </a:rPr>
              <a:t>)    </a:t>
            </a:r>
            <a:r>
              <a:rPr lang="en-GB" sz="1400">
                <a:latin typeface="Times New Roman"/>
                <a:ea typeface="Times New Roman"/>
                <a:cs typeface="Times New Roman"/>
                <a:sym typeface="Times New Roman"/>
              </a:rPr>
              <a:t>Create a stored procedure for monthly gross sales report.</a:t>
            </a:r>
            <a:endParaRPr sz="1400">
              <a:latin typeface="Times New Roman"/>
              <a:ea typeface="Times New Roman"/>
              <a:cs typeface="Times New Roman"/>
              <a:sym typeface="Times New Roman"/>
            </a:endParaRPr>
          </a:p>
        </p:txBody>
      </p:sp>
      <p:pic>
        <p:nvPicPr>
          <p:cNvPr id="212" name="Google Shape;212;p20" title="Task-3.png"/>
          <p:cNvPicPr preferRelativeResize="0"/>
          <p:nvPr/>
        </p:nvPicPr>
        <p:blipFill>
          <a:blip r:embed="rId3">
            <a:alphaModFix/>
          </a:blip>
          <a:stretch>
            <a:fillRect/>
          </a:stretch>
        </p:blipFill>
        <p:spPr>
          <a:xfrm>
            <a:off x="360975" y="863400"/>
            <a:ext cx="5991675" cy="3969099"/>
          </a:xfrm>
          <a:prstGeom prst="rect">
            <a:avLst/>
          </a:prstGeom>
          <a:noFill/>
          <a:ln>
            <a:noFill/>
          </a:ln>
        </p:spPr>
      </p:pic>
      <p:sp>
        <p:nvSpPr>
          <p:cNvPr id="213" name="Google Shape;213;p20"/>
          <p:cNvSpPr/>
          <p:nvPr/>
        </p:nvSpPr>
        <p:spPr>
          <a:xfrm>
            <a:off x="6581075" y="787250"/>
            <a:ext cx="2381700" cy="41214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4" name="Google Shape;214;p20"/>
          <p:cNvSpPr txBox="1"/>
          <p:nvPr/>
        </p:nvSpPr>
        <p:spPr>
          <a:xfrm>
            <a:off x="6820475" y="1015675"/>
            <a:ext cx="1902900" cy="3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C1130"/>
                </a:solidFill>
                <a:latin typeface="Lato"/>
                <a:ea typeface="Lato"/>
                <a:cs typeface="Lato"/>
                <a:sym typeface="Lato"/>
              </a:rPr>
              <a:t>To avoid repeatedly running the same SQL query every time we need the monthly gross sales figures, we created a stored procedure that automates the entire process. Instead of manually calculating the monthly totals for each year, the stored procedure fetches, aggregates, and returns the monthly gross sales in a single execution.</a:t>
            </a:r>
            <a:endParaRPr>
              <a:solidFill>
                <a:srgbClr val="4C1130"/>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idx="1" type="body"/>
          </p:nvPr>
        </p:nvSpPr>
        <p:spPr>
          <a:xfrm>
            <a:off x="1504100" y="319675"/>
            <a:ext cx="7066800" cy="92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400">
                <a:latin typeface="Times New Roman"/>
                <a:ea typeface="Times New Roman"/>
                <a:cs typeface="Times New Roman"/>
                <a:sym typeface="Times New Roman"/>
              </a:rPr>
              <a:t>4</a:t>
            </a:r>
            <a:r>
              <a:rPr lang="en-GB" sz="1400">
                <a:latin typeface="Times New Roman"/>
                <a:ea typeface="Times New Roman"/>
                <a:cs typeface="Times New Roman"/>
                <a:sym typeface="Times New Roman"/>
              </a:rPr>
              <a:t>)  </a:t>
            </a:r>
            <a:r>
              <a:rPr lang="en-GB" sz="1400">
                <a:latin typeface="Times New Roman"/>
                <a:ea typeface="Times New Roman"/>
                <a:cs typeface="Times New Roman"/>
                <a:sym typeface="Times New Roman"/>
              </a:rPr>
              <a:t>C</a:t>
            </a:r>
            <a:r>
              <a:rPr lang="en-GB" sz="1400">
                <a:latin typeface="Times New Roman"/>
                <a:ea typeface="Times New Roman"/>
                <a:cs typeface="Times New Roman"/>
                <a:sym typeface="Times New Roman"/>
              </a:rPr>
              <a:t>r</a:t>
            </a:r>
            <a:r>
              <a:rPr lang="en-GB" sz="1400">
                <a:latin typeface="Times New Roman"/>
                <a:ea typeface="Times New Roman"/>
                <a:cs typeface="Times New Roman"/>
                <a:sym typeface="Times New Roman"/>
              </a:rPr>
              <a:t>eate a stored procedure to determine the market badge. If the total sold quantity is greater     than 5 million, the market should be considered Gold; otherwise, it should be considered Silver.</a:t>
            </a:r>
            <a:endParaRPr sz="1400">
              <a:latin typeface="Times New Roman"/>
              <a:ea typeface="Times New Roman"/>
              <a:cs typeface="Times New Roman"/>
              <a:sym typeface="Times New Roman"/>
            </a:endParaRPr>
          </a:p>
        </p:txBody>
      </p:sp>
      <p:pic>
        <p:nvPicPr>
          <p:cNvPr id="220" name="Google Shape;220;p21" title="task-4 stored procedure.png"/>
          <p:cNvPicPr preferRelativeResize="0"/>
          <p:nvPr/>
        </p:nvPicPr>
        <p:blipFill>
          <a:blip r:embed="rId3">
            <a:alphaModFix/>
          </a:blip>
          <a:stretch>
            <a:fillRect/>
          </a:stretch>
        </p:blipFill>
        <p:spPr>
          <a:xfrm>
            <a:off x="833200" y="983713"/>
            <a:ext cx="3673551" cy="2619974"/>
          </a:xfrm>
          <a:prstGeom prst="rect">
            <a:avLst/>
          </a:prstGeom>
          <a:noFill/>
          <a:ln>
            <a:noFill/>
          </a:ln>
        </p:spPr>
      </p:pic>
      <p:pic>
        <p:nvPicPr>
          <p:cNvPr id="221" name="Google Shape;221;p21" title="dialoge box task-4.png"/>
          <p:cNvPicPr preferRelativeResize="0"/>
          <p:nvPr/>
        </p:nvPicPr>
        <p:blipFill>
          <a:blip r:embed="rId4">
            <a:alphaModFix/>
          </a:blip>
          <a:stretch>
            <a:fillRect/>
          </a:stretch>
        </p:blipFill>
        <p:spPr>
          <a:xfrm>
            <a:off x="4735224" y="983725"/>
            <a:ext cx="4103976" cy="2045148"/>
          </a:xfrm>
          <a:prstGeom prst="rect">
            <a:avLst/>
          </a:prstGeom>
          <a:noFill/>
          <a:ln>
            <a:noFill/>
          </a:ln>
        </p:spPr>
      </p:pic>
      <p:sp>
        <p:nvSpPr>
          <p:cNvPr id="222" name="Google Shape;222;p21"/>
          <p:cNvSpPr/>
          <p:nvPr/>
        </p:nvSpPr>
        <p:spPr>
          <a:xfrm>
            <a:off x="4243125" y="2222675"/>
            <a:ext cx="674100" cy="184800"/>
          </a:xfrm>
          <a:prstGeom prst="rightArrow">
            <a:avLst>
              <a:gd fmla="val 50000" name="adj1"/>
              <a:gd fmla="val 5000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latin typeface="Lato"/>
              <a:ea typeface="Lato"/>
              <a:cs typeface="Lato"/>
              <a:sym typeface="Lato"/>
            </a:endParaRPr>
          </a:p>
        </p:txBody>
      </p:sp>
      <p:pic>
        <p:nvPicPr>
          <p:cNvPr id="223" name="Google Shape;223;p21" title="example task-4.png"/>
          <p:cNvPicPr preferRelativeResize="0"/>
          <p:nvPr/>
        </p:nvPicPr>
        <p:blipFill>
          <a:blip r:embed="rId5">
            <a:alphaModFix/>
          </a:blip>
          <a:stretch>
            <a:fillRect/>
          </a:stretch>
        </p:blipFill>
        <p:spPr>
          <a:xfrm>
            <a:off x="4735225" y="3192825"/>
            <a:ext cx="4103974" cy="1770176"/>
          </a:xfrm>
          <a:prstGeom prst="rect">
            <a:avLst/>
          </a:prstGeom>
          <a:noFill/>
          <a:ln>
            <a:noFill/>
          </a:ln>
        </p:spPr>
      </p:pic>
      <p:sp>
        <p:nvSpPr>
          <p:cNvPr id="224" name="Google Shape;224;p21"/>
          <p:cNvSpPr/>
          <p:nvPr/>
        </p:nvSpPr>
        <p:spPr>
          <a:xfrm rot="5400000">
            <a:off x="8790675" y="3035850"/>
            <a:ext cx="466500" cy="130200"/>
          </a:xfrm>
          <a:prstGeom prst="rightArrow">
            <a:avLst>
              <a:gd fmla="val 50000" name="adj1"/>
              <a:gd fmla="val 5000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latin typeface="Lato"/>
              <a:ea typeface="Lato"/>
              <a:cs typeface="Lato"/>
              <a:sym typeface="Lato"/>
            </a:endParaRPr>
          </a:p>
        </p:txBody>
      </p:sp>
      <p:sp>
        <p:nvSpPr>
          <p:cNvPr id="225" name="Google Shape;225;p21"/>
          <p:cNvSpPr/>
          <p:nvPr/>
        </p:nvSpPr>
        <p:spPr>
          <a:xfrm>
            <a:off x="165300" y="3690700"/>
            <a:ext cx="4341300" cy="1348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100">
                <a:solidFill>
                  <a:srgbClr val="274E13"/>
                </a:solidFill>
              </a:rPr>
              <a:t>A stored procedure is created to assign a market badge based on total sold quantity. If sales exceed 5 million units, the market is marked Gold; otherwise, it receives Silver</a:t>
            </a:r>
            <a:endParaRPr sz="1100">
              <a:solidFill>
                <a:srgbClr val="274E13"/>
              </a:solidFill>
            </a:endParaRPr>
          </a:p>
          <a:p>
            <a:pPr indent="0" lvl="0" marL="0" rtl="0" algn="ctr">
              <a:spcBef>
                <a:spcPts val="0"/>
              </a:spcBef>
              <a:spcAft>
                <a:spcPts val="0"/>
              </a:spcAft>
              <a:buNone/>
            </a:pPr>
            <a:r>
              <a:rPr lang="en-GB" sz="1100">
                <a:solidFill>
                  <a:srgbClr val="274E13"/>
                </a:solidFill>
              </a:rPr>
              <a:t>.</a:t>
            </a:r>
            <a:endParaRPr sz="1100">
              <a:solidFill>
                <a:srgbClr val="274E13"/>
              </a:solidFill>
            </a:endParaRPr>
          </a:p>
          <a:p>
            <a:pPr indent="0" lvl="0" marL="0" rtl="0" algn="ctr">
              <a:spcBef>
                <a:spcPts val="0"/>
              </a:spcBef>
              <a:spcAft>
                <a:spcPts val="0"/>
              </a:spcAft>
              <a:buNone/>
            </a:pPr>
            <a:r>
              <a:rPr lang="en-GB" sz="1100">
                <a:solidFill>
                  <a:srgbClr val="274E13"/>
                </a:solidFill>
              </a:rPr>
              <a:t>For example, in FY 2021, India crossed the 5-million mark and therefore received a Gold badge.</a:t>
            </a:r>
            <a:endParaRPr>
              <a:solidFill>
                <a:srgbClr val="274E13"/>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idx="1" type="body"/>
          </p:nvPr>
        </p:nvSpPr>
        <p:spPr>
          <a:xfrm>
            <a:off x="1504100" y="319675"/>
            <a:ext cx="7066800" cy="92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400">
                <a:latin typeface="Times New Roman"/>
                <a:ea typeface="Times New Roman"/>
                <a:cs typeface="Times New Roman"/>
                <a:sym typeface="Times New Roman"/>
              </a:rPr>
              <a:t>5</a:t>
            </a:r>
            <a:r>
              <a:rPr lang="en-GB" sz="1400">
                <a:latin typeface="Times New Roman"/>
                <a:ea typeface="Times New Roman"/>
                <a:cs typeface="Times New Roman"/>
                <a:sym typeface="Times New Roman"/>
              </a:rPr>
              <a:t>)  </a:t>
            </a:r>
            <a:r>
              <a:rPr lang="en-GB" sz="1400">
                <a:latin typeface="Times New Roman"/>
                <a:ea typeface="Times New Roman"/>
                <a:cs typeface="Times New Roman"/>
                <a:sym typeface="Times New Roman"/>
              </a:rPr>
              <a:t>Identify the top market, top selling </a:t>
            </a:r>
            <a:r>
              <a:rPr lang="en-GB" sz="1400">
                <a:latin typeface="Times New Roman"/>
                <a:ea typeface="Times New Roman"/>
                <a:cs typeface="Times New Roman"/>
                <a:sym typeface="Times New Roman"/>
              </a:rPr>
              <a:t>products, top customers</a:t>
            </a:r>
            <a:r>
              <a:rPr lang="en-GB" sz="1400">
                <a:latin typeface="Times New Roman"/>
                <a:ea typeface="Times New Roman"/>
                <a:cs typeface="Times New Roman"/>
                <a:sym typeface="Times New Roman"/>
              </a:rPr>
              <a:t> based on net sales.</a:t>
            </a:r>
            <a:endParaRPr sz="1400">
              <a:latin typeface="Times New Roman"/>
              <a:ea typeface="Times New Roman"/>
              <a:cs typeface="Times New Roman"/>
              <a:sym typeface="Times New Roman"/>
            </a:endParaRPr>
          </a:p>
        </p:txBody>
      </p:sp>
      <p:pic>
        <p:nvPicPr>
          <p:cNvPr id="231" name="Google Shape;231;p22" title="top 5 market query.png"/>
          <p:cNvPicPr preferRelativeResize="0"/>
          <p:nvPr/>
        </p:nvPicPr>
        <p:blipFill>
          <a:blip r:embed="rId3">
            <a:alphaModFix/>
          </a:blip>
          <a:stretch>
            <a:fillRect/>
          </a:stretch>
        </p:blipFill>
        <p:spPr>
          <a:xfrm>
            <a:off x="1163700" y="907050"/>
            <a:ext cx="2611826" cy="1761475"/>
          </a:xfrm>
          <a:prstGeom prst="rect">
            <a:avLst/>
          </a:prstGeom>
          <a:noFill/>
          <a:ln>
            <a:noFill/>
          </a:ln>
        </p:spPr>
      </p:pic>
      <p:pic>
        <p:nvPicPr>
          <p:cNvPr id="232" name="Google Shape;232;p22" title="top 5 customer query.png"/>
          <p:cNvPicPr preferRelativeResize="0"/>
          <p:nvPr/>
        </p:nvPicPr>
        <p:blipFill>
          <a:blip r:embed="rId4">
            <a:alphaModFix/>
          </a:blip>
          <a:stretch>
            <a:fillRect/>
          </a:stretch>
        </p:blipFill>
        <p:spPr>
          <a:xfrm>
            <a:off x="1163700" y="2929500"/>
            <a:ext cx="2611825" cy="1862925"/>
          </a:xfrm>
          <a:prstGeom prst="rect">
            <a:avLst/>
          </a:prstGeom>
          <a:noFill/>
          <a:ln>
            <a:noFill/>
          </a:ln>
        </p:spPr>
      </p:pic>
      <p:pic>
        <p:nvPicPr>
          <p:cNvPr id="233" name="Google Shape;233;p22" title="table top 5 market.png"/>
          <p:cNvPicPr preferRelativeResize="0"/>
          <p:nvPr/>
        </p:nvPicPr>
        <p:blipFill>
          <a:blip r:embed="rId5">
            <a:alphaModFix/>
          </a:blip>
          <a:stretch>
            <a:fillRect/>
          </a:stretch>
        </p:blipFill>
        <p:spPr>
          <a:xfrm>
            <a:off x="3923175" y="907050"/>
            <a:ext cx="2493150" cy="1761475"/>
          </a:xfrm>
          <a:prstGeom prst="rect">
            <a:avLst/>
          </a:prstGeom>
          <a:noFill/>
          <a:ln>
            <a:noFill/>
          </a:ln>
        </p:spPr>
      </p:pic>
      <p:pic>
        <p:nvPicPr>
          <p:cNvPr id="234" name="Google Shape;234;p22" title="table top 5 customer.png"/>
          <p:cNvPicPr preferRelativeResize="0"/>
          <p:nvPr/>
        </p:nvPicPr>
        <p:blipFill>
          <a:blip r:embed="rId6">
            <a:alphaModFix/>
          </a:blip>
          <a:stretch>
            <a:fillRect/>
          </a:stretch>
        </p:blipFill>
        <p:spPr>
          <a:xfrm>
            <a:off x="3923175" y="2929500"/>
            <a:ext cx="2493150" cy="1862925"/>
          </a:xfrm>
          <a:prstGeom prst="rect">
            <a:avLst/>
          </a:prstGeom>
          <a:noFill/>
          <a:ln>
            <a:noFill/>
          </a:ln>
        </p:spPr>
      </p:pic>
      <p:sp>
        <p:nvSpPr>
          <p:cNvPr id="235" name="Google Shape;235;p22"/>
          <p:cNvSpPr/>
          <p:nvPr/>
        </p:nvSpPr>
        <p:spPr>
          <a:xfrm>
            <a:off x="3416675" y="1809449"/>
            <a:ext cx="674100" cy="184800"/>
          </a:xfrm>
          <a:prstGeom prst="rightArrow">
            <a:avLst>
              <a:gd fmla="val 50000" name="adj1"/>
              <a:gd fmla="val 50000" name="adj2"/>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latin typeface="Lato"/>
              <a:ea typeface="Lato"/>
              <a:cs typeface="Lato"/>
              <a:sym typeface="Lato"/>
            </a:endParaRPr>
          </a:p>
        </p:txBody>
      </p:sp>
      <p:sp>
        <p:nvSpPr>
          <p:cNvPr id="236" name="Google Shape;236;p22"/>
          <p:cNvSpPr/>
          <p:nvPr/>
        </p:nvSpPr>
        <p:spPr>
          <a:xfrm>
            <a:off x="3416675" y="3768563"/>
            <a:ext cx="674100" cy="184800"/>
          </a:xfrm>
          <a:prstGeom prst="rightArrow">
            <a:avLst>
              <a:gd fmla="val 50000" name="adj1"/>
              <a:gd fmla="val 5000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latin typeface="Lato"/>
              <a:ea typeface="Lato"/>
              <a:cs typeface="Lato"/>
              <a:sym typeface="Lato"/>
            </a:endParaRPr>
          </a:p>
        </p:txBody>
      </p:sp>
      <p:sp>
        <p:nvSpPr>
          <p:cNvPr id="237" name="Google Shape;237;p22"/>
          <p:cNvSpPr/>
          <p:nvPr/>
        </p:nvSpPr>
        <p:spPr>
          <a:xfrm>
            <a:off x="6602825" y="1369138"/>
            <a:ext cx="2261700" cy="837300"/>
          </a:xfrm>
          <a:prstGeom prst="round2DiagRect">
            <a:avLst>
              <a:gd fmla="val 16667" name="adj1"/>
              <a:gd fmla="val 0" name="adj2"/>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8" name="Google Shape;238;p22"/>
          <p:cNvSpPr txBox="1"/>
          <p:nvPr/>
        </p:nvSpPr>
        <p:spPr>
          <a:xfrm rot="-5400000">
            <a:off x="126575" y="1681425"/>
            <a:ext cx="11370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Top Market</a:t>
            </a:r>
            <a:endParaRPr sz="1300">
              <a:solidFill>
                <a:schemeClr val="lt1"/>
              </a:solidFill>
              <a:latin typeface="Lato"/>
              <a:ea typeface="Lato"/>
              <a:cs typeface="Lato"/>
              <a:sym typeface="Lato"/>
            </a:endParaRPr>
          </a:p>
        </p:txBody>
      </p:sp>
      <p:sp>
        <p:nvSpPr>
          <p:cNvPr id="239" name="Google Shape;239;p22"/>
          <p:cNvSpPr txBox="1"/>
          <p:nvPr/>
        </p:nvSpPr>
        <p:spPr>
          <a:xfrm rot="-5400000">
            <a:off x="-32275" y="3393100"/>
            <a:ext cx="14547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Top Customer</a:t>
            </a:r>
            <a:endParaRPr sz="1300">
              <a:solidFill>
                <a:schemeClr val="lt1"/>
              </a:solidFill>
              <a:latin typeface="Lato"/>
              <a:ea typeface="Lato"/>
              <a:cs typeface="Lato"/>
              <a:sym typeface="Lato"/>
            </a:endParaRPr>
          </a:p>
        </p:txBody>
      </p:sp>
      <p:sp>
        <p:nvSpPr>
          <p:cNvPr id="240" name="Google Shape;240;p22"/>
          <p:cNvSpPr txBox="1"/>
          <p:nvPr/>
        </p:nvSpPr>
        <p:spPr>
          <a:xfrm>
            <a:off x="6681650" y="1456725"/>
            <a:ext cx="2212800" cy="5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4C1130"/>
                </a:solidFill>
              </a:rPr>
              <a:t>Top Market:</a:t>
            </a:r>
            <a:r>
              <a:rPr lang="en-GB">
                <a:solidFill>
                  <a:srgbClr val="4C1130"/>
                </a:solidFill>
              </a:rPr>
              <a:t> India with net sales of ₹210.67</a:t>
            </a:r>
            <a:endParaRPr>
              <a:solidFill>
                <a:srgbClr val="4C1130"/>
              </a:solidFill>
              <a:latin typeface="Lato"/>
              <a:ea typeface="Lato"/>
              <a:cs typeface="Lato"/>
              <a:sym typeface="Lato"/>
            </a:endParaRPr>
          </a:p>
        </p:txBody>
      </p:sp>
      <p:sp>
        <p:nvSpPr>
          <p:cNvPr id="241" name="Google Shape;241;p22"/>
          <p:cNvSpPr/>
          <p:nvPr/>
        </p:nvSpPr>
        <p:spPr>
          <a:xfrm>
            <a:off x="6657200" y="3304913"/>
            <a:ext cx="2261700" cy="837300"/>
          </a:xfrm>
          <a:prstGeom prst="round2DiagRect">
            <a:avLst>
              <a:gd fmla="val 16667" name="adj1"/>
              <a:gd fmla="val 0" name="adj2"/>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22"/>
          <p:cNvSpPr txBox="1"/>
          <p:nvPr/>
        </p:nvSpPr>
        <p:spPr>
          <a:xfrm>
            <a:off x="6706100" y="3398375"/>
            <a:ext cx="2212800" cy="5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4C1130"/>
                </a:solidFill>
              </a:rPr>
              <a:t>Top Customer:</a:t>
            </a:r>
            <a:r>
              <a:rPr lang="en-GB">
                <a:solidFill>
                  <a:srgbClr val="4C1130"/>
                </a:solidFill>
              </a:rPr>
              <a:t> Amazon with net sales of ₹109.03</a:t>
            </a:r>
            <a:endParaRPr>
              <a:solidFill>
                <a:srgbClr val="4C1130"/>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3" title="top5product query.png"/>
          <p:cNvPicPr preferRelativeResize="0"/>
          <p:nvPr/>
        </p:nvPicPr>
        <p:blipFill>
          <a:blip r:embed="rId3">
            <a:alphaModFix/>
          </a:blip>
          <a:stretch>
            <a:fillRect/>
          </a:stretch>
        </p:blipFill>
        <p:spPr>
          <a:xfrm>
            <a:off x="1326800" y="261125"/>
            <a:ext cx="4047225" cy="2407400"/>
          </a:xfrm>
          <a:prstGeom prst="rect">
            <a:avLst/>
          </a:prstGeom>
          <a:noFill/>
          <a:ln>
            <a:noFill/>
          </a:ln>
        </p:spPr>
      </p:pic>
      <p:pic>
        <p:nvPicPr>
          <p:cNvPr id="248" name="Google Shape;248;p23" title="table top 5 product.png"/>
          <p:cNvPicPr preferRelativeResize="0"/>
          <p:nvPr/>
        </p:nvPicPr>
        <p:blipFill>
          <a:blip r:embed="rId4">
            <a:alphaModFix/>
          </a:blip>
          <a:stretch>
            <a:fillRect/>
          </a:stretch>
        </p:blipFill>
        <p:spPr>
          <a:xfrm>
            <a:off x="1327350" y="3005800"/>
            <a:ext cx="3981450" cy="2038350"/>
          </a:xfrm>
          <a:prstGeom prst="rect">
            <a:avLst/>
          </a:prstGeom>
          <a:noFill/>
          <a:ln>
            <a:noFill/>
          </a:ln>
        </p:spPr>
      </p:pic>
      <p:sp>
        <p:nvSpPr>
          <p:cNvPr id="249" name="Google Shape;249;p23"/>
          <p:cNvSpPr txBox="1"/>
          <p:nvPr/>
        </p:nvSpPr>
        <p:spPr>
          <a:xfrm rot="-5400000">
            <a:off x="257050" y="2660100"/>
            <a:ext cx="11370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lt1"/>
                </a:solidFill>
                <a:latin typeface="Lato"/>
                <a:ea typeface="Lato"/>
                <a:cs typeface="Lato"/>
                <a:sym typeface="Lato"/>
              </a:rPr>
              <a:t>Top   Product</a:t>
            </a:r>
            <a:endParaRPr sz="1300">
              <a:solidFill>
                <a:schemeClr val="lt1"/>
              </a:solidFill>
              <a:latin typeface="Lato"/>
              <a:ea typeface="Lato"/>
              <a:cs typeface="Lato"/>
              <a:sym typeface="Lato"/>
            </a:endParaRPr>
          </a:p>
        </p:txBody>
      </p:sp>
      <p:sp>
        <p:nvSpPr>
          <p:cNvPr id="250" name="Google Shape;250;p23"/>
          <p:cNvSpPr/>
          <p:nvPr/>
        </p:nvSpPr>
        <p:spPr>
          <a:xfrm>
            <a:off x="5665725" y="2206550"/>
            <a:ext cx="3110100" cy="1022100"/>
          </a:xfrm>
          <a:prstGeom prst="round2Diag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1" name="Google Shape;251;p23"/>
          <p:cNvSpPr txBox="1"/>
          <p:nvPr/>
        </p:nvSpPr>
        <p:spPr>
          <a:xfrm>
            <a:off x="6004725" y="2429300"/>
            <a:ext cx="2511900" cy="5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4C1130"/>
                </a:solidFill>
              </a:rPr>
              <a:t>Top Product:</a:t>
            </a:r>
            <a:r>
              <a:rPr lang="en-GB">
                <a:solidFill>
                  <a:srgbClr val="4C1130"/>
                </a:solidFill>
              </a:rPr>
              <a:t> AQ BZ Allin1 with net sales of ₹33.75</a:t>
            </a:r>
            <a:endParaRPr sz="1700">
              <a:solidFill>
                <a:srgbClr val="4C1130"/>
              </a:solidFill>
              <a:latin typeface="Lato"/>
              <a:ea typeface="Lato"/>
              <a:cs typeface="Lato"/>
              <a:sym typeface="Lato"/>
            </a:endParaRPr>
          </a:p>
        </p:txBody>
      </p:sp>
      <p:sp>
        <p:nvSpPr>
          <p:cNvPr id="252" name="Google Shape;252;p23"/>
          <p:cNvSpPr/>
          <p:nvPr/>
        </p:nvSpPr>
        <p:spPr>
          <a:xfrm rot="5400000">
            <a:off x="843888" y="2777250"/>
            <a:ext cx="674100" cy="184800"/>
          </a:xfrm>
          <a:prstGeom prst="rightArrow">
            <a:avLst>
              <a:gd fmla="val 50000" name="adj1"/>
              <a:gd fmla="val 50000" name="adj2"/>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ph idx="1" type="body"/>
          </p:nvPr>
        </p:nvSpPr>
        <p:spPr>
          <a:xfrm>
            <a:off x="380775" y="102200"/>
            <a:ext cx="7744500" cy="46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852"/>
              <a:buNone/>
            </a:pPr>
            <a:r>
              <a:rPr lang="en-GB" sz="1400">
                <a:latin typeface="Times New Roman"/>
                <a:ea typeface="Times New Roman"/>
                <a:cs typeface="Times New Roman"/>
                <a:sym typeface="Times New Roman"/>
              </a:rPr>
              <a:t>6</a:t>
            </a:r>
            <a:r>
              <a:rPr lang="en-GB" sz="1400">
                <a:latin typeface="Times New Roman"/>
                <a:ea typeface="Times New Roman"/>
                <a:cs typeface="Times New Roman"/>
                <a:sym typeface="Times New Roman"/>
              </a:rPr>
              <a:t>)  </a:t>
            </a:r>
            <a:r>
              <a:rPr lang="en-GB" sz="1400">
                <a:latin typeface="Times New Roman"/>
                <a:ea typeface="Times New Roman"/>
                <a:cs typeface="Times New Roman"/>
                <a:sym typeface="Times New Roman"/>
              </a:rPr>
              <a:t>Create a stored procedure to return the top N markets, customers, products based on net sales.</a:t>
            </a:r>
            <a:endParaRPr sz="1400">
              <a:latin typeface="Times New Roman"/>
              <a:ea typeface="Times New Roman"/>
              <a:cs typeface="Times New Roman"/>
              <a:sym typeface="Times New Roman"/>
            </a:endParaRPr>
          </a:p>
        </p:txBody>
      </p:sp>
      <p:pic>
        <p:nvPicPr>
          <p:cNvPr id="258" name="Google Shape;258;p24" title="top_n_customer store procedure.png"/>
          <p:cNvPicPr preferRelativeResize="0"/>
          <p:nvPr/>
        </p:nvPicPr>
        <p:blipFill>
          <a:blip r:embed="rId3">
            <a:alphaModFix/>
          </a:blip>
          <a:stretch>
            <a:fillRect/>
          </a:stretch>
        </p:blipFill>
        <p:spPr>
          <a:xfrm>
            <a:off x="4960925" y="1929075"/>
            <a:ext cx="4067151" cy="3081350"/>
          </a:xfrm>
          <a:prstGeom prst="rect">
            <a:avLst/>
          </a:prstGeom>
          <a:noFill/>
          <a:ln>
            <a:noFill/>
          </a:ln>
        </p:spPr>
      </p:pic>
      <p:pic>
        <p:nvPicPr>
          <p:cNvPr id="259" name="Google Shape;259;p24" title="top_n_mkt store procedure.png"/>
          <p:cNvPicPr preferRelativeResize="0"/>
          <p:nvPr/>
        </p:nvPicPr>
        <p:blipFill>
          <a:blip r:embed="rId4">
            <a:alphaModFix/>
          </a:blip>
          <a:stretch>
            <a:fillRect/>
          </a:stretch>
        </p:blipFill>
        <p:spPr>
          <a:xfrm>
            <a:off x="380775" y="689425"/>
            <a:ext cx="4449549" cy="2407050"/>
          </a:xfrm>
          <a:prstGeom prst="rect">
            <a:avLst/>
          </a:prstGeom>
          <a:noFill/>
          <a:ln>
            <a:noFill/>
          </a:ln>
        </p:spPr>
      </p:pic>
      <p:pic>
        <p:nvPicPr>
          <p:cNvPr id="260" name="Google Shape;260;p24" title="top_n_product store procedure.png"/>
          <p:cNvPicPr preferRelativeResize="0"/>
          <p:nvPr/>
        </p:nvPicPr>
        <p:blipFill>
          <a:blip r:embed="rId5">
            <a:alphaModFix/>
          </a:blip>
          <a:stretch>
            <a:fillRect/>
          </a:stretch>
        </p:blipFill>
        <p:spPr>
          <a:xfrm>
            <a:off x="380775" y="3218100"/>
            <a:ext cx="4449549" cy="1792325"/>
          </a:xfrm>
          <a:prstGeom prst="rect">
            <a:avLst/>
          </a:prstGeom>
          <a:noFill/>
          <a:ln>
            <a:noFill/>
          </a:ln>
        </p:spPr>
      </p:pic>
      <p:sp>
        <p:nvSpPr>
          <p:cNvPr id="261" name="Google Shape;261;p24"/>
          <p:cNvSpPr/>
          <p:nvPr/>
        </p:nvSpPr>
        <p:spPr>
          <a:xfrm rot="-5400000">
            <a:off x="6341825" y="-941900"/>
            <a:ext cx="1359600" cy="41214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2" name="Google Shape;262;p24"/>
          <p:cNvSpPr txBox="1"/>
          <p:nvPr/>
        </p:nvSpPr>
        <p:spPr>
          <a:xfrm>
            <a:off x="5053325" y="439150"/>
            <a:ext cx="39366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4C1130"/>
                </a:solidFill>
                <a:latin typeface="Lato"/>
                <a:ea typeface="Lato"/>
                <a:cs typeface="Lato"/>
                <a:sym typeface="Lato"/>
              </a:rPr>
              <a:t>A stored procedure is created to quickly return the top N markets, customers, and products based on net sales. This eliminates the need to manually write separate SQL queries each time and provides an easy way to fetch the highest-performing markets, customers, or products instantly.</a:t>
            </a:r>
            <a:endParaRPr sz="1300">
              <a:solidFill>
                <a:srgbClr val="4C1130"/>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txBox="1"/>
          <p:nvPr>
            <p:ph idx="1" type="body"/>
          </p:nvPr>
        </p:nvSpPr>
        <p:spPr>
          <a:xfrm>
            <a:off x="380775" y="102200"/>
            <a:ext cx="8407800" cy="46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852"/>
              <a:buNone/>
            </a:pPr>
            <a:r>
              <a:rPr lang="en-GB" sz="1400">
                <a:latin typeface="Times New Roman"/>
                <a:ea typeface="Times New Roman"/>
                <a:cs typeface="Times New Roman"/>
                <a:sym typeface="Times New Roman"/>
              </a:rPr>
              <a:t>7</a:t>
            </a:r>
            <a:r>
              <a:rPr lang="en-GB" sz="1400">
                <a:latin typeface="Times New Roman"/>
                <a:ea typeface="Times New Roman"/>
                <a:cs typeface="Times New Roman"/>
                <a:sym typeface="Times New Roman"/>
              </a:rPr>
              <a:t>)  Provide </a:t>
            </a:r>
            <a:r>
              <a:rPr lang="en-GB" sz="1400">
                <a:latin typeface="Times New Roman"/>
                <a:ea typeface="Times New Roman"/>
                <a:cs typeface="Times New Roman"/>
                <a:sym typeface="Times New Roman"/>
              </a:rPr>
              <a:t>a bar chart report for the top 10 customers based on percentage net sales for the financial year 2021.</a:t>
            </a:r>
            <a:endParaRPr sz="1400">
              <a:latin typeface="Times New Roman"/>
              <a:ea typeface="Times New Roman"/>
              <a:cs typeface="Times New Roman"/>
              <a:sym typeface="Times New Roman"/>
            </a:endParaRPr>
          </a:p>
        </p:txBody>
      </p:sp>
      <p:pic>
        <p:nvPicPr>
          <p:cNvPr id="268" name="Google Shape;268;p25" title="task-7 sql (1).png"/>
          <p:cNvPicPr preferRelativeResize="0"/>
          <p:nvPr/>
        </p:nvPicPr>
        <p:blipFill>
          <a:blip r:embed="rId3">
            <a:alphaModFix/>
          </a:blip>
          <a:stretch>
            <a:fillRect/>
          </a:stretch>
        </p:blipFill>
        <p:spPr>
          <a:xfrm>
            <a:off x="1068500" y="513400"/>
            <a:ext cx="3503500" cy="2200925"/>
          </a:xfrm>
          <a:prstGeom prst="rect">
            <a:avLst/>
          </a:prstGeom>
          <a:noFill/>
          <a:ln>
            <a:noFill/>
          </a:ln>
        </p:spPr>
      </p:pic>
      <p:pic>
        <p:nvPicPr>
          <p:cNvPr id="269" name="Google Shape;269;p25" title="task-7 sql (2).png"/>
          <p:cNvPicPr preferRelativeResize="0"/>
          <p:nvPr/>
        </p:nvPicPr>
        <p:blipFill>
          <a:blip r:embed="rId4">
            <a:alphaModFix/>
          </a:blip>
          <a:stretch>
            <a:fillRect/>
          </a:stretch>
        </p:blipFill>
        <p:spPr>
          <a:xfrm>
            <a:off x="4702650" y="513400"/>
            <a:ext cx="4267200" cy="2200925"/>
          </a:xfrm>
          <a:prstGeom prst="rect">
            <a:avLst/>
          </a:prstGeom>
          <a:noFill/>
          <a:ln>
            <a:noFill/>
          </a:ln>
        </p:spPr>
      </p:pic>
      <p:pic>
        <p:nvPicPr>
          <p:cNvPr id="270" name="Google Shape;270;p25" title="Bar graph task-7.png"/>
          <p:cNvPicPr preferRelativeResize="0"/>
          <p:nvPr/>
        </p:nvPicPr>
        <p:blipFill>
          <a:blip r:embed="rId5">
            <a:alphaModFix/>
          </a:blip>
          <a:stretch>
            <a:fillRect/>
          </a:stretch>
        </p:blipFill>
        <p:spPr>
          <a:xfrm>
            <a:off x="4702650" y="2855850"/>
            <a:ext cx="4267199" cy="2124375"/>
          </a:xfrm>
          <a:prstGeom prst="rect">
            <a:avLst/>
          </a:prstGeom>
          <a:noFill/>
          <a:ln>
            <a:noFill/>
          </a:ln>
        </p:spPr>
      </p:pic>
      <p:sp>
        <p:nvSpPr>
          <p:cNvPr id="271" name="Google Shape;271;p25"/>
          <p:cNvSpPr/>
          <p:nvPr/>
        </p:nvSpPr>
        <p:spPr>
          <a:xfrm rot="10800000">
            <a:off x="8518466" y="2439825"/>
            <a:ext cx="532800" cy="881100"/>
          </a:xfrm>
          <a:prstGeom prst="bentArrow">
            <a:avLst>
              <a:gd fmla="val 25000" name="adj1"/>
              <a:gd fmla="val 25000" name="adj2"/>
              <a:gd fmla="val 25000" name="adj3"/>
              <a:gd fmla="val 43750" name="adj4"/>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2" name="Google Shape;272;p25"/>
          <p:cNvSpPr/>
          <p:nvPr/>
        </p:nvSpPr>
        <p:spPr>
          <a:xfrm>
            <a:off x="295775" y="2855950"/>
            <a:ext cx="4267200" cy="2124300"/>
          </a:xfrm>
          <a:prstGeom prst="round2Diag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3" name="Google Shape;273;p25"/>
          <p:cNvSpPr txBox="1"/>
          <p:nvPr/>
        </p:nvSpPr>
        <p:spPr>
          <a:xfrm>
            <a:off x="537275" y="2855950"/>
            <a:ext cx="3784200" cy="16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74E13"/>
                </a:solidFill>
                <a:latin typeface="Lato"/>
                <a:ea typeface="Lato"/>
                <a:cs typeface="Lato"/>
                <a:sym typeface="Lato"/>
              </a:rPr>
              <a:t>Amazon emerges as the top customer with net sales of ₹109.03 million, representing 13.23% of the total net sales. Atliq Exclusive follows in second place with a 9.7% share, while Synthetic ranks lowest among the top 10, contributing 1.95% of net sales. The chart provides a clear view of each customer’s contribution, making it easy to identify the major revenue drivers.</a:t>
            </a:r>
            <a:endParaRPr>
              <a:solidFill>
                <a:srgbClr val="274E13"/>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6"/>
          <p:cNvSpPr txBox="1"/>
          <p:nvPr>
            <p:ph idx="1" type="body"/>
          </p:nvPr>
        </p:nvSpPr>
        <p:spPr>
          <a:xfrm>
            <a:off x="380775" y="102200"/>
            <a:ext cx="8407800" cy="46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852"/>
              <a:buNone/>
            </a:pPr>
            <a:r>
              <a:rPr lang="en-GB" sz="1400">
                <a:latin typeface="Times New Roman"/>
                <a:ea typeface="Times New Roman"/>
                <a:cs typeface="Times New Roman"/>
                <a:sym typeface="Times New Roman"/>
              </a:rPr>
              <a:t>8</a:t>
            </a:r>
            <a:r>
              <a:rPr lang="en-GB" sz="1400">
                <a:latin typeface="Times New Roman"/>
                <a:ea typeface="Times New Roman"/>
                <a:cs typeface="Times New Roman"/>
                <a:sym typeface="Times New Roman"/>
              </a:rPr>
              <a:t>)  </a:t>
            </a:r>
            <a:r>
              <a:rPr lang="en-GB" sz="1400">
                <a:latin typeface="Times New Roman"/>
                <a:ea typeface="Times New Roman"/>
                <a:cs typeface="Times New Roman"/>
                <a:sym typeface="Times New Roman"/>
              </a:rPr>
              <a:t>Provide a region-wise percentage net sales breakdown by customers for the financial year 2021.</a:t>
            </a:r>
            <a:endParaRPr sz="1400">
              <a:latin typeface="Times New Roman"/>
              <a:ea typeface="Times New Roman"/>
              <a:cs typeface="Times New Roman"/>
              <a:sym typeface="Times New Roman"/>
            </a:endParaRPr>
          </a:p>
        </p:txBody>
      </p:sp>
      <p:pic>
        <p:nvPicPr>
          <p:cNvPr id="279" name="Google Shape;279;p26" title="task-8 query.png"/>
          <p:cNvPicPr preferRelativeResize="0"/>
          <p:nvPr/>
        </p:nvPicPr>
        <p:blipFill>
          <a:blip r:embed="rId3">
            <a:alphaModFix/>
          </a:blip>
          <a:stretch>
            <a:fillRect/>
          </a:stretch>
        </p:blipFill>
        <p:spPr>
          <a:xfrm>
            <a:off x="1087575" y="567800"/>
            <a:ext cx="4938899" cy="2003950"/>
          </a:xfrm>
          <a:prstGeom prst="rect">
            <a:avLst/>
          </a:prstGeom>
          <a:noFill/>
          <a:ln>
            <a:noFill/>
          </a:ln>
        </p:spPr>
      </p:pic>
      <p:pic>
        <p:nvPicPr>
          <p:cNvPr id="280" name="Google Shape;280;p26" title="task-8 table.png"/>
          <p:cNvPicPr preferRelativeResize="0"/>
          <p:nvPr/>
        </p:nvPicPr>
        <p:blipFill>
          <a:blip r:embed="rId4">
            <a:alphaModFix/>
          </a:blip>
          <a:stretch>
            <a:fillRect/>
          </a:stretch>
        </p:blipFill>
        <p:spPr>
          <a:xfrm>
            <a:off x="6091725" y="567800"/>
            <a:ext cx="2914300" cy="2003951"/>
          </a:xfrm>
          <a:prstGeom prst="rect">
            <a:avLst/>
          </a:prstGeom>
          <a:noFill/>
          <a:ln>
            <a:noFill/>
          </a:ln>
        </p:spPr>
      </p:pic>
      <p:pic>
        <p:nvPicPr>
          <p:cNvPr id="281" name="Google Shape;281;p26" title="task-8 graph.png"/>
          <p:cNvPicPr preferRelativeResize="0"/>
          <p:nvPr/>
        </p:nvPicPr>
        <p:blipFill>
          <a:blip r:embed="rId5">
            <a:alphaModFix/>
          </a:blip>
          <a:stretch>
            <a:fillRect/>
          </a:stretch>
        </p:blipFill>
        <p:spPr>
          <a:xfrm>
            <a:off x="5166600" y="2646775"/>
            <a:ext cx="3839426" cy="2355200"/>
          </a:xfrm>
          <a:prstGeom prst="rect">
            <a:avLst/>
          </a:prstGeom>
          <a:noFill/>
          <a:ln>
            <a:noFill/>
          </a:ln>
        </p:spPr>
      </p:pic>
      <p:sp>
        <p:nvSpPr>
          <p:cNvPr id="282" name="Google Shape;282;p26"/>
          <p:cNvSpPr/>
          <p:nvPr/>
        </p:nvSpPr>
        <p:spPr>
          <a:xfrm rot="10800000">
            <a:off x="8473216" y="2178850"/>
            <a:ext cx="532800" cy="881100"/>
          </a:xfrm>
          <a:prstGeom prst="bentArrow">
            <a:avLst>
              <a:gd fmla="val 25000" name="adj1"/>
              <a:gd fmla="val 25000" name="adj2"/>
              <a:gd fmla="val 25000" name="adj3"/>
              <a:gd fmla="val 43750" name="adj4"/>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3" name="Google Shape;283;p26"/>
          <p:cNvSpPr/>
          <p:nvPr/>
        </p:nvSpPr>
        <p:spPr>
          <a:xfrm>
            <a:off x="480650" y="2809900"/>
            <a:ext cx="4219200" cy="1631100"/>
          </a:xfrm>
          <a:prstGeom prst="round2DiagRect">
            <a:avLst>
              <a:gd fmla="val 16667" name="adj1"/>
              <a:gd fmla="val 0" name="adj2"/>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4" name="Google Shape;284;p26"/>
          <p:cNvSpPr txBox="1"/>
          <p:nvPr/>
        </p:nvSpPr>
        <p:spPr>
          <a:xfrm>
            <a:off x="622000" y="2875150"/>
            <a:ext cx="3950100" cy="18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4C1130"/>
                </a:solidFill>
                <a:latin typeface="Lato"/>
                <a:ea typeface="Lato"/>
                <a:cs typeface="Lato"/>
                <a:sym typeface="Lato"/>
              </a:rPr>
              <a:t> In the APAC region, Amazon accounted for 12.99% of net sales. In the EU, Atliq e Store led with a 9.87% share. For LATAM, Amazon dominated with 48.73%, while in North America, Amazon contributed 17% of the region’s net sales.</a:t>
            </a:r>
            <a:endParaRPr>
              <a:solidFill>
                <a:srgbClr val="4C1130"/>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7"/>
          <p:cNvSpPr txBox="1"/>
          <p:nvPr>
            <p:ph idx="1" type="body"/>
          </p:nvPr>
        </p:nvSpPr>
        <p:spPr>
          <a:xfrm>
            <a:off x="132675" y="102200"/>
            <a:ext cx="8916900" cy="465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852"/>
              <a:buNone/>
            </a:pPr>
            <a:r>
              <a:rPr lang="en-GB" sz="1400">
                <a:latin typeface="Times New Roman"/>
                <a:ea typeface="Times New Roman"/>
                <a:cs typeface="Times New Roman"/>
                <a:sym typeface="Times New Roman"/>
              </a:rPr>
              <a:t>9</a:t>
            </a:r>
            <a:r>
              <a:rPr lang="en-GB" sz="1400">
                <a:latin typeface="Times New Roman"/>
                <a:ea typeface="Times New Roman"/>
                <a:cs typeface="Times New Roman"/>
                <a:sym typeface="Times New Roman"/>
              </a:rPr>
              <a:t>)  </a:t>
            </a:r>
            <a:r>
              <a:rPr lang="en-GB" sz="1400">
                <a:latin typeface="Times New Roman"/>
                <a:ea typeface="Times New Roman"/>
                <a:cs typeface="Times New Roman"/>
                <a:sym typeface="Times New Roman"/>
              </a:rPr>
              <a:t>Create a stored procedure to identify the top N products in each division based on quantity sold for a given FY such as  2021.</a:t>
            </a:r>
            <a:endParaRPr sz="1400">
              <a:latin typeface="Times New Roman"/>
              <a:ea typeface="Times New Roman"/>
              <a:cs typeface="Times New Roman"/>
              <a:sym typeface="Times New Roman"/>
            </a:endParaRPr>
          </a:p>
        </p:txBody>
      </p:sp>
      <p:pic>
        <p:nvPicPr>
          <p:cNvPr id="290" name="Google Shape;290;p27" title="task-9 store.png"/>
          <p:cNvPicPr preferRelativeResize="0"/>
          <p:nvPr/>
        </p:nvPicPr>
        <p:blipFill>
          <a:blip r:embed="rId3">
            <a:alphaModFix/>
          </a:blip>
          <a:stretch>
            <a:fillRect/>
          </a:stretch>
        </p:blipFill>
        <p:spPr>
          <a:xfrm>
            <a:off x="1141950" y="622325"/>
            <a:ext cx="4754050" cy="4199300"/>
          </a:xfrm>
          <a:prstGeom prst="rect">
            <a:avLst/>
          </a:prstGeom>
          <a:noFill/>
          <a:ln>
            <a:noFill/>
          </a:ln>
        </p:spPr>
      </p:pic>
      <p:sp>
        <p:nvSpPr>
          <p:cNvPr id="291" name="Google Shape;291;p27"/>
          <p:cNvSpPr/>
          <p:nvPr/>
        </p:nvSpPr>
        <p:spPr>
          <a:xfrm>
            <a:off x="6124350" y="1396250"/>
            <a:ext cx="2685900" cy="2675100"/>
          </a:xfrm>
          <a:prstGeom prst="round2Diag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2" name="Google Shape;292;p27"/>
          <p:cNvSpPr txBox="1"/>
          <p:nvPr/>
        </p:nvSpPr>
        <p:spPr>
          <a:xfrm>
            <a:off x="6265725" y="1570225"/>
            <a:ext cx="2457600" cy="6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74E13"/>
                </a:solidFill>
                <a:latin typeface="Lato"/>
                <a:ea typeface="Lato"/>
                <a:cs typeface="Lato"/>
                <a:sym typeface="Lato"/>
              </a:rPr>
              <a:t>A stored procedure is created to identify the top N products in each division based on quantity sold for a given financial year, such as 2021. This automates the process and makes it easy to retrieve the top-performing products without manually running multiple queries.</a:t>
            </a:r>
            <a:endParaRPr>
              <a:solidFill>
                <a:srgbClr val="274E13"/>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type="title"/>
          </p:nvPr>
        </p:nvSpPr>
        <p:spPr>
          <a:xfrm>
            <a:off x="562875" y="1806650"/>
            <a:ext cx="5691900" cy="1300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